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Idaho AI Intelligence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E69C"/>
                </a:solidFill>
                <a:latin typeface="Calibri"/>
              </a:rPr>
              <a:t>Connecting Child Welfare, Juvenile Justice &amp; Adult Corrections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3657600" cy="4572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A90"/>
                </a:solidFill>
                <a:latin typeface="Calibri"/>
              </a:rPr>
              <a:t>A Federated AI Platform for Evidence-Based Government Decision 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0"/>
                </a:solidFill>
                <a:latin typeface="Calibri"/>
              </a:rPr>
              <a:t>State of Idaho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Idaho Faces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88720"/>
            <a:ext cx="27432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7432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Data Silos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920240"/>
            <a:ext cx="685800" cy="685800"/>
          </a:xfrm>
          <a:prstGeom prst="rect">
            <a:avLst/>
          </a:prstGeom>
          <a:solidFill>
            <a:srgbClr val="F5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IDHW, IDJC, and IDOC each hold critical data
about Idaho citizens — but cannot see
each other's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7432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27432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Fragmented Decisions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920240"/>
            <a:ext cx="685800" cy="685800"/>
          </a:xfrm>
          <a:prstGeom prst="rect">
            <a:avLst/>
          </a:prstGeom>
          <a:solidFill>
            <a:srgbClr val="F5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6596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74320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Caseworkers, juvenile officers, and corrections
staff make decisions without a complete
picture of an individual's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88720"/>
            <a:ext cx="27432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188720"/>
            <a:ext cx="2743200" cy="91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371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Delayed Insights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920240"/>
            <a:ext cx="685800" cy="685800"/>
          </a:xfrm>
          <a:prstGeom prst="rect">
            <a:avLst/>
          </a:prstGeom>
          <a:solidFill>
            <a:srgbClr val="F5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96596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Connecting a foster child to an incarcerated
parent today requires manual coordination
across three agencies — taking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Solution: A Federated AI Intelligence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E69C"/>
                </a:solidFill>
                <a:latin typeface="Calibri"/>
              </a:rPr>
              <a:t>One intelligent platform that federates data from all three agencies — without ever moving or centralizing sensitive records. Agency data stays in its own system. AI reasons across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2286000" cy="118872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IDHW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97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E69C"/>
                </a:solidFill>
                <a:latin typeface="Calibri"/>
              </a:rPr>
              <a:t>Child Welfare
&amp; Foster 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94560"/>
            <a:ext cx="2286000" cy="118872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IDJC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97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E69C"/>
                </a:solidFill>
                <a:latin typeface="Calibri"/>
              </a:rPr>
              <a:t>Juvenile
Justice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194560"/>
            <a:ext cx="2286000" cy="118872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97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E69C"/>
                </a:solidFill>
                <a:latin typeface="Calibri"/>
              </a:rPr>
              <a:t>Adult
Corrections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3291840"/>
            <a:ext cx="914400" cy="73152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3291840"/>
            <a:ext cx="914400" cy="73152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3566160"/>
            <a:ext cx="2834640" cy="91440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611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AI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023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2A4A"/>
                </a:solidFill>
                <a:latin typeface="Calibri"/>
              </a:rPr>
              <a:t>Federated Reasoning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63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A90"/>
                </a:solidFill>
                <a:latin typeface="Calibri"/>
              </a:rPr>
              <a:t>Insight_ID links every individual across all agencies — privacy preserved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Proven Capability: The MVP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" cy="118872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"How many foster children in Idaho have a parent currently incarcerated?"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Answering this today requires: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✗  Without AI Mesh — 3 to 6 weeks of manual coordination between agencies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A"/>
                </a:solidFill>
                <a:latin typeface="Calibri"/>
              </a:rPr>
              <a:t>✓  With AI Mesh — Answer in seconds, automatically, with full audit trail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5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Same platform answers ANY cross-agency question about Idaho's most vulnerable citizens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Measurable Impact for Idaho Citizens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E69C"/>
                </a:solidFill>
                <a:latin typeface="Calibri"/>
              </a:rPr>
              <a:t>Every query answered creates direct, measurable value: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760"/>
            <a:ext cx="2011680" cy="182880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2011680" cy="914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 Agencies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9C"/>
                </a:solidFill>
                <a:latin typeface="Calibri"/>
              </a:rPr>
              <a:t>Connected in one
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508760"/>
            <a:ext cx="2011680" cy="182880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1508760"/>
            <a:ext cx="2011680" cy="914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9C"/>
                </a:solidFill>
                <a:latin typeface="Calibri"/>
              </a:rPr>
              <a:t>vs. weeks for
cross-agency answers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508760"/>
            <a:ext cx="2011680" cy="182880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1508760"/>
            <a:ext cx="2011680" cy="914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9C"/>
                </a:solidFill>
                <a:latin typeface="Calibri"/>
              </a:rPr>
              <a:t>Data stays inside
each agency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508760"/>
            <a:ext cx="2011680" cy="182880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1508760"/>
            <a:ext cx="2011680" cy="914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Auditable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2860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E69C"/>
                </a:solidFill>
                <a:latin typeface="Calibri"/>
              </a:rPr>
              <a:t>Every query logged
for compliance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109728" cy="114300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657600"/>
            <a:ext cx="7772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"For the first time, Idaho's child welfare, juvenile justice, and corrections systems can see the complete picture — enabling smarter decisions that protect children and strengthen families."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Who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11480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7373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0700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Child Welfare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207007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IDHW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07007"/>
            <a:ext cx="1051560" cy="32004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207007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IDHW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4591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Immediately see if a foster child's parent is incarcerated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29967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Make better placement and reunification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414015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Reduce time spent on manual cross-agency lookups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1097280"/>
            <a:ext cx="411480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59" y="1097280"/>
            <a:ext cx="411480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59" y="1097280"/>
            <a:ext cx="73152" cy="17373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20700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Juvenile Justice Officers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207007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IDJC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207007"/>
            <a:ext cx="1051560" cy="32004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207007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IDJC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64591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Track youth who transition between juvenile and adult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29967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Identify at-risk youth with IDHW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414015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Support evidence-based intervention planning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017520"/>
            <a:ext cx="411480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017520"/>
            <a:ext cx="73152" cy="17373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1272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Corrections &amp; Parole Officers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12724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IDOC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127248"/>
            <a:ext cx="1051560" cy="32004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312724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IDOC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35661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Identify incarcerated individuals with children in foster 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39502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Prioritize family reunification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43342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Support post-release planning for parents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59" y="3017520"/>
            <a:ext cx="4114800" cy="17373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59" y="3017520"/>
            <a:ext cx="411480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9159" y="3017520"/>
            <a:ext cx="73152" cy="17373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31272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Governor &amp; Legislature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12724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3127248"/>
            <a:ext cx="1051560" cy="320040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312724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5661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Answer cross-agency policy questions in real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39502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Generate evidence-based budget justifications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3342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Demonstrate accountability and transparency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45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Privacy First — Data Never Leaves Its Agency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114800" cy="100584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09728" cy="10058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114800" cy="54864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00"/>
                </a:solidFill>
                <a:latin typeface="Calibri"/>
              </a:rPr>
              <a:t>No Data 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Agency records never leave their source system. IDHW data stays in IDHW. IDOC data stays in IDOC.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1097280"/>
            <a:ext cx="4114800" cy="100584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59" y="1097280"/>
            <a:ext cx="109728" cy="10058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97280"/>
            <a:ext cx="4114800" cy="54864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00"/>
                </a:solidFill>
                <a:latin typeface="Calibri"/>
              </a:rPr>
              <a:t>Federated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5544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The AI reasons across agency boundaries by calling each agency's API — not by copying or merging databases.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4114800" cy="100584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109728" cy="10058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286000"/>
            <a:ext cx="4114800" cy="54864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77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00"/>
                </a:solidFill>
                <a:latin typeface="Calibri"/>
              </a:rPr>
              <a:t>Insight_ID Linkage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 shared, privacy-preserving identifier (insight_id) connects individuals across agencies without exposing PII.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2286000"/>
            <a:ext cx="4114800" cy="100584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59" y="2286000"/>
            <a:ext cx="109728" cy="10058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2286000"/>
            <a:ext cx="4114800" cy="54864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377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00"/>
                </a:solidFill>
                <a:latin typeface="Calibri"/>
              </a:rPr>
              <a:t>Full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7432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Every query is logged with timestamp, question, agencies queried, and result — meeting HIPAA and state compliance requirements.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74720"/>
            <a:ext cx="4114800" cy="100584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474720"/>
            <a:ext cx="109728" cy="10058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474720"/>
            <a:ext cx="4114800" cy="54864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66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00"/>
                </a:solidFill>
                <a:latin typeface="Calibri"/>
              </a:rPr>
              <a:t>Role-Based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319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Each agency controls what data is exposed through its API. The platform enforces existing access controls.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3474720"/>
            <a:ext cx="4114800" cy="100584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59" y="3474720"/>
            <a:ext cx="109728" cy="10058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3474720"/>
            <a:ext cx="4114800" cy="54864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3566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00"/>
                </a:solidFill>
                <a:latin typeface="Calibri"/>
              </a:rPr>
              <a:t>CJIS Compliant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9319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Designed to meet FBI Criminal Justice Information Services security policy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Phased 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8595360" cy="109728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115568"/>
            <a:ext cx="25603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9848" y="1371600"/>
            <a:ext cx="36576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1645920" cy="2971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645920" cy="73152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10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6BB0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578608"/>
            <a:ext cx="1371600" cy="27432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Q1-Q2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926080"/>
            <a:ext cx="1508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✓ Data infrastructure built, agency CSV data loaded, insight_id validated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115568"/>
            <a:ext cx="25603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371600"/>
            <a:ext cx="36576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93391" y="1737360"/>
            <a:ext cx="1645920" cy="2971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93391" y="1737360"/>
            <a:ext cx="1645920" cy="73152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39111" y="1810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6BB0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1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Agency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30551" y="2578608"/>
            <a:ext cx="1371600" cy="27432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0551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6543" y="2926080"/>
            <a:ext cx="1508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✓ MCP servers deployed: 9+ tools per agency, /execute endpoints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98264" y="1115568"/>
            <a:ext cx="25603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7992" y="1371600"/>
            <a:ext cx="36576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12463" y="1737360"/>
            <a:ext cx="1645920" cy="2971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2463" y="1737360"/>
            <a:ext cx="1645920" cy="73152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8183" y="1810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6BB0"/>
                </a:solidFill>
                <a:latin typeface="Calibri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8183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AI Controller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9624" y="2578608"/>
            <a:ext cx="1371600" cy="27432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9624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5615" y="2926080"/>
            <a:ext cx="1508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✓ LangGraph state machine running, natural language queries operational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17336" y="1115568"/>
            <a:ext cx="25603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27064" y="1371600"/>
            <a:ext cx="36576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737360"/>
            <a:ext cx="1645920" cy="2971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31536" y="1737360"/>
            <a:ext cx="1645920" cy="73152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77255" y="1810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6BB0"/>
                </a:solidFill>
                <a:latin typeface="Calibri"/>
              </a:rPr>
              <a:t>Phase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7255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Cross-Agency
Reasoning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8696" y="2578608"/>
            <a:ext cx="1371600" cy="27432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68696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Q3-Q4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2926080"/>
            <a:ext cx="1508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Cross-agency reasoning, parent ID extraction, ephemeral graph analysis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36408" y="1115568"/>
            <a:ext cx="256032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46136" y="1371600"/>
            <a:ext cx="36576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50607" y="1737360"/>
            <a:ext cx="1645920" cy="2971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50607" y="1737360"/>
            <a:ext cx="1645920" cy="73152"/>
          </a:xfrm>
          <a:prstGeom prst="rect">
            <a:avLst/>
          </a:prstGeom>
          <a:solidFill>
            <a:srgbClr val="1E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96327" y="1810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6BB0"/>
                </a:solidFill>
                <a:latin typeface="Calibri"/>
              </a:rPr>
              <a:t>Phase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6327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Production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87768" y="2578608"/>
            <a:ext cx="1371600" cy="27432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87768" y="2606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59" y="2926080"/>
            <a:ext cx="1508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Web UI, compliance certification, user training, production hardening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Investment &amp;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931920" cy="914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200"/>
                </a:solidFill>
                <a:latin typeface="Calibri"/>
              </a:rPr>
              <a:t>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Infrastructure: Cloud-native, agency-agnostic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942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Integration: Minimal — no agency systems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Timeline: Core platform built, production in 3-6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735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Web Interface: Real-time query UI with progress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8561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Scalable: Add agencies or data sources without rebuilding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097280"/>
            <a:ext cx="3931920" cy="914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200"/>
                </a:solidFill>
                <a:latin typeface="Calibri"/>
              </a:rPr>
              <a:t>Return on 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Reduced manual coordination hours across agencies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24942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Faster, better-informed caseworker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614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Improved outcomes for Idaho's most at-risk children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735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Compliance-ready audit trail for federal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78561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Platform for future AI capabilities statewide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097280"/>
            <a:ext cx="73152" cy="35661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Idaho's Moment to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E69C"/>
                </a:solidFill>
                <a:latin typeface="Calibri"/>
              </a:rPr>
              <a:t>Idaho can be the first state to deploy a cross-agency AI Intelligence Mesh —
setting a national standard for how government agencies collaborate
to protect vulnerable citizens.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743200"/>
            <a:ext cx="8229600" cy="54864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2651760" cy="173736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2651760" cy="914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00"/>
                </a:solidFill>
                <a:latin typeface="Calibri"/>
              </a:rPr>
              <a:t>1. Authorize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Authorize Phase 5: Production hardening &amp; compliance certification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926080"/>
            <a:ext cx="2651760" cy="173736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926080"/>
            <a:ext cx="2651760" cy="914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063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00"/>
                </a:solidFill>
                <a:latin typeface="Calibri"/>
              </a:rPr>
              <a:t>2. Assign Agency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204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Designate a data liaison from IDHW, IDJC, and IDOC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926080"/>
            <a:ext cx="2651760" cy="1737360"/>
          </a:xfrm>
          <a:prstGeom prst="rect">
            <a:avLst/>
          </a:prstGeom>
          <a:solidFill>
            <a:srgbClr val="2D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926080"/>
            <a:ext cx="2651760" cy="9144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063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200"/>
                </a:solidFill>
                <a:latin typeface="Calibri"/>
              </a:rPr>
              <a:t>3. Set Success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04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Define what 'good' looks like: query speed, accuracy,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0"/>
                </a:solidFill>
                <a:latin typeface="Calibri"/>
              </a:rPr>
              <a:t>State of Idaho  |  Federated AI Intelligence Mesh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