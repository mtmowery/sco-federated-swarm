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0292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Idaho AI Intelligence Mesh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55448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5E69C"/>
                </a:solidFill>
                <a:latin typeface="Calibri"/>
              </a:rPr>
              <a:t>Connecting Child Welfare, Juvenile Justice &amp; Adult Corrections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286000"/>
            <a:ext cx="3657600" cy="45720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46888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B7A90"/>
                </a:solidFill>
                <a:latin typeface="Calibri"/>
              </a:rPr>
              <a:t>A Federated AI Platform for Evidence-Based Government Decision Making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4805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A90"/>
                </a:solidFill>
                <a:latin typeface="Calibri"/>
              </a:rPr>
              <a:t>State of Idaho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Problem Idaho Faces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188720"/>
            <a:ext cx="274320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1188720"/>
            <a:ext cx="2743200" cy="914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Data Silos</a:t>
            </a:r>
          </a:p>
        </p:txBody>
      </p:sp>
      <p:sp>
        <p:nvSpPr>
          <p:cNvPr id="7" name="Rectangle 6"/>
          <p:cNvSpPr/>
          <p:nvPr/>
        </p:nvSpPr>
        <p:spPr>
          <a:xfrm>
            <a:off x="1234440" y="1920240"/>
            <a:ext cx="685800" cy="685800"/>
          </a:xfrm>
          <a:prstGeom prst="rect">
            <a:avLst/>
          </a:prstGeom>
          <a:solidFill>
            <a:srgbClr val="F5E6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1965960"/>
            <a:ext cx="685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B2A4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43200"/>
            <a:ext cx="2514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IDHW, IDJC, and IDOC each hold critical data
about Idaho citizens — but cannot see
each other's information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188720"/>
            <a:ext cx="274320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188720"/>
            <a:ext cx="2743200" cy="914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13716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Fragmented Decisions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920240"/>
            <a:ext cx="685800" cy="685800"/>
          </a:xfrm>
          <a:prstGeom prst="rect">
            <a:avLst/>
          </a:prstGeom>
          <a:solidFill>
            <a:srgbClr val="F5E6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1965960"/>
            <a:ext cx="685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B2A4A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743200"/>
            <a:ext cx="2514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Caseworkers, juvenile officers, and corrections
staff make decisions without a complete
picture of an individual's history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188720"/>
            <a:ext cx="274320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188720"/>
            <a:ext cx="2743200" cy="914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3716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Delayed Insights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78040" y="1920240"/>
            <a:ext cx="685800" cy="685800"/>
          </a:xfrm>
          <a:prstGeom prst="rect">
            <a:avLst/>
          </a:prstGeom>
          <a:solidFill>
            <a:srgbClr val="F5E6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8040" y="1965960"/>
            <a:ext cx="685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B2A4A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743200"/>
            <a:ext cx="2514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Connecting a foster child to an incarcerated
parent today requires manual coordination
across three agencies — taking weeks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D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Solution: A Federated AI Intelligence Mesh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E69C"/>
                </a:solidFill>
                <a:latin typeface="Calibri"/>
              </a:rPr>
              <a:t>One intelligent platform that federates data from all three agencies — without ever moving or centralizing sensitive records. Agency data stays in its own system. AI reasons across boundaries.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2194560"/>
            <a:ext cx="2286000" cy="1188720"/>
          </a:xfrm>
          <a:prstGeom prst="rect">
            <a:avLst/>
          </a:prstGeom>
          <a:solidFill>
            <a:srgbClr val="1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2402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IDHW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69748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5E69C"/>
                </a:solidFill>
                <a:latin typeface="Calibri"/>
              </a:rPr>
              <a:t>Child Welfare
&amp; Foster Care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2194560"/>
            <a:ext cx="2286000" cy="1188720"/>
          </a:xfrm>
          <a:prstGeom prst="rect">
            <a:avLst/>
          </a:prstGeom>
          <a:solidFill>
            <a:srgbClr val="1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22402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IDJC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69748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5E69C"/>
                </a:solidFill>
                <a:latin typeface="Calibri"/>
              </a:rPr>
              <a:t>Juvenile
Justice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2194560"/>
            <a:ext cx="2286000" cy="1188720"/>
          </a:xfrm>
          <a:prstGeom prst="rect">
            <a:avLst/>
          </a:prstGeom>
          <a:solidFill>
            <a:srgbClr val="1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22402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IDOC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69748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5E69C"/>
                </a:solidFill>
                <a:latin typeface="Calibri"/>
              </a:rPr>
              <a:t>Adult
Corrections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0" y="3291840"/>
            <a:ext cx="914400" cy="73152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3291840"/>
            <a:ext cx="914400" cy="73152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0" y="3566160"/>
            <a:ext cx="2834640" cy="914400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361188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2A4A"/>
                </a:solidFill>
                <a:latin typeface="Calibri"/>
              </a:rPr>
              <a:t>AI Controller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40233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B2A4A"/>
                </a:solidFill>
                <a:latin typeface="Calibri"/>
              </a:rPr>
              <a:t>Federated Reasoning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66344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B7A90"/>
                </a:solidFill>
                <a:latin typeface="Calibri"/>
              </a:rPr>
              <a:t>Insight_ID links every individual across all agencies — privacy preserved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Proven Capability: The MVP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solidFill>
            <a:srgbClr val="2D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" cy="1188720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1">
                <a:solidFill>
                  <a:srgbClr val="FFFFFF"/>
                </a:solidFill>
                <a:latin typeface="Calibri"/>
              </a:rPr>
              <a:t>"How many foster children in Idaho have a parent currently incarcerated?"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60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2A4A"/>
                </a:solidFill>
                <a:latin typeface="Calibri"/>
              </a:rPr>
              <a:t>Answering this today requires: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✗  Without AI Mesh — 3 to 6 weeks of manual coordination between agencies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6616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A4A"/>
                </a:solidFill>
                <a:latin typeface="Calibri"/>
              </a:rPr>
              <a:t>✓  With AI Mesh — Answer in seconds, automatically, with full audit trail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206240"/>
            <a:ext cx="8229600" cy="685800"/>
          </a:xfrm>
          <a:prstGeom prst="rect">
            <a:avLst/>
          </a:prstGeom>
          <a:solidFill>
            <a:srgbClr val="F5E6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Same platform answers ANY cross-agency question about Idaho's most vulnerable citizens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Measurable Impact for Idaho Citizens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05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E69C"/>
                </a:solidFill>
                <a:latin typeface="Calibri"/>
              </a:rPr>
              <a:t>Every query answered creates direct, measurable value: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508760"/>
            <a:ext cx="2011680" cy="1828800"/>
          </a:xfrm>
          <a:prstGeom prst="rect">
            <a:avLst/>
          </a:prstGeom>
          <a:solidFill>
            <a:srgbClr val="1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508760"/>
            <a:ext cx="2011680" cy="91440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64592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 Agencies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228600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E69C"/>
                </a:solidFill>
                <a:latin typeface="Calibri"/>
              </a:rPr>
              <a:t>Connected in one
platform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80" y="1508760"/>
            <a:ext cx="2011680" cy="1828800"/>
          </a:xfrm>
          <a:prstGeom prst="rect">
            <a:avLst/>
          </a:prstGeom>
          <a:solidFill>
            <a:srgbClr val="1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468880" y="1508760"/>
            <a:ext cx="2011680" cy="91440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164592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Seconds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28600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E69C"/>
                </a:solidFill>
                <a:latin typeface="Calibri"/>
              </a:rPr>
              <a:t>vs. weeks for
cross-agency answers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1508760"/>
            <a:ext cx="2011680" cy="1828800"/>
          </a:xfrm>
          <a:prstGeom prst="rect">
            <a:avLst/>
          </a:prstGeom>
          <a:solidFill>
            <a:srgbClr val="1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09160" y="1508760"/>
            <a:ext cx="2011680" cy="91440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64592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28600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E69C"/>
                </a:solidFill>
                <a:latin typeface="Calibri"/>
              </a:rPr>
              <a:t>Data stays inside
each agency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1508760"/>
            <a:ext cx="2011680" cy="1828800"/>
          </a:xfrm>
          <a:prstGeom prst="rect">
            <a:avLst/>
          </a:prstGeom>
          <a:solidFill>
            <a:srgbClr val="1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49440" y="1508760"/>
            <a:ext cx="2011680" cy="91440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164592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Auditable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228600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E69C"/>
                </a:solidFill>
                <a:latin typeface="Calibri"/>
              </a:rPr>
              <a:t>Every query logged
for compliance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566160"/>
            <a:ext cx="8229600" cy="1143000"/>
          </a:xfrm>
          <a:prstGeom prst="rect">
            <a:avLst/>
          </a:prstGeom>
          <a:solidFill>
            <a:srgbClr val="2D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566160"/>
            <a:ext cx="109728" cy="1143000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657600"/>
            <a:ext cx="7772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"For the first time, Idaho's child welfare, juvenile justice, and corrections systems can see the complete picture — enabling smarter decisions that protect children and strengthen families."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Who Benefits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4114800" cy="17373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4114800" cy="7315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73152" cy="1737360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207007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Child Welfare Workers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207007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IDHW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07007"/>
            <a:ext cx="1051560" cy="320040"/>
          </a:xfrm>
          <a:prstGeom prst="rect">
            <a:avLst/>
          </a:prstGeom>
          <a:solidFill>
            <a:srgbClr val="1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207007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IDHW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1645919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Immediately see if a foster child's parent is incarcerated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2029967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Make better placement and reunification decisions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414015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Reduce time spent on manual cross-agency lookups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59" y="1097280"/>
            <a:ext cx="4114800" cy="17373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09159" y="1097280"/>
            <a:ext cx="4114800" cy="7315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09159" y="1097280"/>
            <a:ext cx="73152" cy="1737360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0" y="1207007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Juvenile Justice Officers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1207007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IDJC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1207007"/>
            <a:ext cx="1051560" cy="320040"/>
          </a:xfrm>
          <a:prstGeom prst="rect">
            <a:avLst/>
          </a:prstGeom>
          <a:solidFill>
            <a:srgbClr val="1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35240" y="1207007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IDJC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1645919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Track youth who transition between juvenile and adult systems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029967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Identify at-risk youth with IDHW history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414015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Support evidence-based intervention planning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017520"/>
            <a:ext cx="4114800" cy="17373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3017520"/>
            <a:ext cx="4114800" cy="7315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017520"/>
            <a:ext cx="73152" cy="1737360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79" y="312724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Corrections &amp; Parole Officers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127248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IDOC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3127248"/>
            <a:ext cx="1051560" cy="320040"/>
          </a:xfrm>
          <a:prstGeom prst="rect">
            <a:avLst/>
          </a:prstGeom>
          <a:solidFill>
            <a:srgbClr val="1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0" y="3127248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IDOC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" y="356616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Identify incarcerated individuals with children in foster care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" y="395020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Prioritize family reunification services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79" y="4334256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Support post-release planning for parents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9159" y="3017520"/>
            <a:ext cx="4114800" cy="17373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09159" y="3017520"/>
            <a:ext cx="4114800" cy="7315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09159" y="3017520"/>
            <a:ext cx="73152" cy="1737360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46320" y="312724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Governor &amp; Legislature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35240" y="3127248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Policy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635240" y="3127248"/>
            <a:ext cx="1051560" cy="320040"/>
          </a:xfrm>
          <a:prstGeom prst="rect">
            <a:avLst/>
          </a:prstGeom>
          <a:solidFill>
            <a:srgbClr val="1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35240" y="3127248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Policy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46320" y="356616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Answer cross-agency policy questions in real time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395020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Generate evidence-based budget justifications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0" y="4334256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Demonstrate accountability and transparency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45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Privacy First — Data Never Leaves Its Agency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4114800" cy="1005840"/>
          </a:xfrm>
          <a:prstGeom prst="rect">
            <a:avLst/>
          </a:prstGeom>
          <a:solidFill>
            <a:srgbClr val="2D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109728" cy="1005840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4114800" cy="54864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200"/>
                </a:solidFill>
                <a:latin typeface="Calibri"/>
              </a:rPr>
              <a:t>No Data Movement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Agency records never leave their source system. IDHW data stays in IDHW. IDOC data stays in IDOC.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59" y="1097280"/>
            <a:ext cx="4114800" cy="1005840"/>
          </a:xfrm>
          <a:prstGeom prst="rect">
            <a:avLst/>
          </a:prstGeom>
          <a:solidFill>
            <a:srgbClr val="2D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09159" y="1097280"/>
            <a:ext cx="109728" cy="1005840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09159" y="1097280"/>
            <a:ext cx="4114800" cy="54864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9204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200"/>
                </a:solidFill>
                <a:latin typeface="Calibri"/>
              </a:rPr>
              <a:t>Federated Queries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55448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The AI reasons across agency boundaries by calling each agency's API — not by copying or merging databases.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286000"/>
            <a:ext cx="4114800" cy="1005840"/>
          </a:xfrm>
          <a:prstGeom prst="rect">
            <a:avLst/>
          </a:prstGeom>
          <a:solidFill>
            <a:srgbClr val="2D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286000"/>
            <a:ext cx="109728" cy="1005840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2286000"/>
            <a:ext cx="4114800" cy="54864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3774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200"/>
                </a:solidFill>
                <a:latin typeface="Calibri"/>
              </a:rPr>
              <a:t>Insight_ID Linkage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7432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 shared, privacy-preserving identifier (insight_id) connects individuals across agencies without exposing PII.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59" y="2286000"/>
            <a:ext cx="4114800" cy="1005840"/>
          </a:xfrm>
          <a:prstGeom prst="rect">
            <a:avLst/>
          </a:prstGeom>
          <a:solidFill>
            <a:srgbClr val="2D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09159" y="2286000"/>
            <a:ext cx="109728" cy="1005840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09159" y="2286000"/>
            <a:ext cx="4114800" cy="54864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92040" y="23774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200"/>
                </a:solidFill>
                <a:latin typeface="Calibri"/>
              </a:rPr>
              <a:t>Full Audit Trail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27432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Every query is logged with timestamp, question, agencies queried, and result — meeting HIPAA and state compliance requirements.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474720"/>
            <a:ext cx="4114800" cy="1005840"/>
          </a:xfrm>
          <a:prstGeom prst="rect">
            <a:avLst/>
          </a:prstGeom>
          <a:solidFill>
            <a:srgbClr val="2D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3474720"/>
            <a:ext cx="109728" cy="1005840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474720"/>
            <a:ext cx="4114800" cy="54864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56616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200"/>
                </a:solidFill>
                <a:latin typeface="Calibri"/>
              </a:rPr>
              <a:t>Role-Based Access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93192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Each agency controls what data is exposed through its API. The platform enforces existing access controls.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59" y="3474720"/>
            <a:ext cx="4114800" cy="1005840"/>
          </a:xfrm>
          <a:prstGeom prst="rect">
            <a:avLst/>
          </a:prstGeom>
          <a:solidFill>
            <a:srgbClr val="2D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09159" y="3474720"/>
            <a:ext cx="109728" cy="1005840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709159" y="3474720"/>
            <a:ext cx="4114800" cy="54864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92040" y="356616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200"/>
                </a:solidFill>
                <a:latin typeface="Calibri"/>
              </a:rPr>
              <a:t>CJIS Compliant Architecture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93192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Designed to meet FBI Criminal Justice Information Services security policy requirements.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Phased Implementation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8595360" cy="109728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" y="1115568"/>
            <a:ext cx="256032" cy="25603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69848" y="1371600"/>
            <a:ext cx="36576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737360"/>
            <a:ext cx="1645920" cy="29718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737360"/>
            <a:ext cx="1645920" cy="73152"/>
          </a:xfrm>
          <a:prstGeom prst="rect">
            <a:avLst/>
          </a:prstGeom>
          <a:solidFill>
            <a:srgbClr val="1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81051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6BB0"/>
                </a:solidFill>
                <a:latin typeface="Calibri"/>
              </a:rPr>
              <a:t>Phase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2A4A"/>
                </a:solidFill>
                <a:latin typeface="Calibri"/>
              </a:rPr>
              <a:t>Foundation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79" y="2578608"/>
            <a:ext cx="1371600" cy="274320"/>
          </a:xfrm>
          <a:prstGeom prst="rect">
            <a:avLst/>
          </a:prstGeom>
          <a:solidFill>
            <a:srgbClr val="2D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26060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Q1-Q2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926080"/>
            <a:ext cx="15087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2E"/>
                </a:solidFill>
                <a:latin typeface="Calibri"/>
              </a:rPr>
              <a:t>Establish data infrastructure, load agency data, validate insight_id linkage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79191" y="1115568"/>
            <a:ext cx="256032" cy="25603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88920" y="1371600"/>
            <a:ext cx="36576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93391" y="1737360"/>
            <a:ext cx="1645920" cy="29718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93391" y="1737360"/>
            <a:ext cx="1645920" cy="73152"/>
          </a:xfrm>
          <a:prstGeom prst="rect">
            <a:avLst/>
          </a:prstGeom>
          <a:solidFill>
            <a:srgbClr val="1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39111" y="181051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6BB0"/>
                </a:solidFill>
                <a:latin typeface="Calibri"/>
              </a:rPr>
              <a:t>Phase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9111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2A4A"/>
                </a:solidFill>
                <a:latin typeface="Calibri"/>
              </a:rPr>
              <a:t>Agency APIs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30551" y="2578608"/>
            <a:ext cx="1371600" cy="274320"/>
          </a:xfrm>
          <a:prstGeom prst="rect">
            <a:avLst/>
          </a:prstGeom>
          <a:solidFill>
            <a:srgbClr val="2D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30551" y="26060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Q2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66543" y="2926080"/>
            <a:ext cx="15087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2E"/>
                </a:solidFill>
                <a:latin typeface="Calibri"/>
              </a:rPr>
              <a:t>Deploy MCP servers for each agency, enabling secure programmatic access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98264" y="1115568"/>
            <a:ext cx="256032" cy="25603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07992" y="1371600"/>
            <a:ext cx="36576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12463" y="1737360"/>
            <a:ext cx="1645920" cy="29718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12463" y="1737360"/>
            <a:ext cx="1645920" cy="73152"/>
          </a:xfrm>
          <a:prstGeom prst="rect">
            <a:avLst/>
          </a:prstGeom>
          <a:solidFill>
            <a:srgbClr val="1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58183" y="181051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6BB0"/>
                </a:solidFill>
                <a:latin typeface="Calibri"/>
              </a:rPr>
              <a:t>Phase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58183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2A4A"/>
                </a:solidFill>
                <a:latin typeface="Calibri"/>
              </a:rPr>
              <a:t>AI Controller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9624" y="2578608"/>
            <a:ext cx="1371600" cy="274320"/>
          </a:xfrm>
          <a:prstGeom prst="rect">
            <a:avLst/>
          </a:prstGeom>
          <a:solidFill>
            <a:srgbClr val="2D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9624" y="26060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Q3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85615" y="2926080"/>
            <a:ext cx="15087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2E"/>
                </a:solidFill>
                <a:latin typeface="Calibri"/>
              </a:rPr>
              <a:t>Deploy LangGraph orchestration engine, enable natural language queries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17336" y="1115568"/>
            <a:ext cx="256032" cy="25603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27064" y="1371600"/>
            <a:ext cx="36576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737360"/>
            <a:ext cx="1645920" cy="29718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31536" y="1737360"/>
            <a:ext cx="1645920" cy="73152"/>
          </a:xfrm>
          <a:prstGeom prst="rect">
            <a:avLst/>
          </a:prstGeom>
          <a:solidFill>
            <a:srgbClr val="1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77255" y="181051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6BB0"/>
                </a:solidFill>
                <a:latin typeface="Calibri"/>
              </a:rPr>
              <a:t>Phase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77255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2A4A"/>
                </a:solidFill>
                <a:latin typeface="Calibri"/>
              </a:rPr>
              <a:t>Cross-Agency
Reasoning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68696" y="2578608"/>
            <a:ext cx="1371600" cy="274320"/>
          </a:xfrm>
          <a:prstGeom prst="rect">
            <a:avLst/>
          </a:prstGeom>
          <a:solidFill>
            <a:srgbClr val="2D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568696" y="26060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Q3-Q4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04688" y="2926080"/>
            <a:ext cx="15087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2E"/>
                </a:solidFill>
                <a:latin typeface="Calibri"/>
              </a:rPr>
              <a:t>Entity resolution, identity matching, cross-agency insight generation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36408" y="1115568"/>
            <a:ext cx="256032" cy="25603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946136" y="1371600"/>
            <a:ext cx="36576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50607" y="1737360"/>
            <a:ext cx="1645920" cy="29718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150607" y="1737360"/>
            <a:ext cx="1645920" cy="73152"/>
          </a:xfrm>
          <a:prstGeom prst="rect">
            <a:avLst/>
          </a:prstGeom>
          <a:solidFill>
            <a:srgbClr val="1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96327" y="181051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6BB0"/>
                </a:solidFill>
                <a:latin typeface="Calibri"/>
              </a:rPr>
              <a:t>Phase 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96327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2A4A"/>
                </a:solidFill>
                <a:latin typeface="Calibri"/>
              </a:rPr>
              <a:t>Production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87768" y="2578608"/>
            <a:ext cx="1371600" cy="274320"/>
          </a:xfrm>
          <a:prstGeom prst="rect">
            <a:avLst/>
          </a:prstGeom>
          <a:solidFill>
            <a:srgbClr val="2D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87768" y="26060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Q4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23759" y="2926080"/>
            <a:ext cx="15087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2E"/>
                </a:solidFill>
                <a:latin typeface="Calibri"/>
              </a:rPr>
              <a:t>Full production deployment, user training, compliance certification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D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Investment &amp; Return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3931920" cy="3566160"/>
          </a:xfrm>
          <a:prstGeom prst="rect">
            <a:avLst/>
          </a:prstGeom>
          <a:solidFill>
            <a:srgbClr val="2D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931920" cy="91440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A200"/>
                </a:solidFill>
                <a:latin typeface="Calibri"/>
              </a:rPr>
              <a:t>Investment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• Infrastructure: Cloud-native, agency-agnostic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49424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• Integration: Minimal — no agency systems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61488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• Timeline: Production in 9-12 months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73552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• Maintenance: Low — AI model updates, not schema changes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85616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• Scalable: Add agencies or data sources without rebuilding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1097280"/>
            <a:ext cx="3931920" cy="3566160"/>
          </a:xfrm>
          <a:prstGeom prst="rect">
            <a:avLst/>
          </a:prstGeom>
          <a:solidFill>
            <a:srgbClr val="2D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0" y="1097280"/>
            <a:ext cx="3931920" cy="91440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12344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A200"/>
                </a:solidFill>
                <a:latin typeface="Calibri"/>
              </a:rPr>
              <a:t>Return on Investment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17373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✓ Reduced manual coordination hours across agencies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2249424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✓ Faster, better-informed caseworker decisions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2761488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✓ Improved outcomes for Idaho's most at-risk children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3273552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✓ Compliance-ready audit trail for federal reporting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785616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✓ Platform for future AI capabilities statewide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43400" y="1097280"/>
            <a:ext cx="73152" cy="3566160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029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Idaho's Moment to Lead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5087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5E69C"/>
                </a:solidFill>
                <a:latin typeface="Calibri"/>
              </a:rPr>
              <a:t>Idaho can be the first state to deploy a cross-agency AI Intelligence Mesh —
setting a national standard for how government agencies collaborate
to protect vulnerable citizens.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743200"/>
            <a:ext cx="8229600" cy="54864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2926080"/>
            <a:ext cx="2651760" cy="1737360"/>
          </a:xfrm>
          <a:prstGeom prst="rect">
            <a:avLst/>
          </a:prstGeom>
          <a:solidFill>
            <a:srgbClr val="2D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926080"/>
            <a:ext cx="2651760" cy="91440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0632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200"/>
                </a:solidFill>
                <a:latin typeface="Calibri"/>
              </a:rPr>
              <a:t>1. Authorize 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2044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Approve Phase 1: Data Foundation &amp; IDHW-IDOC integration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2926080"/>
            <a:ext cx="2651760" cy="1737360"/>
          </a:xfrm>
          <a:prstGeom prst="rect">
            <a:avLst/>
          </a:prstGeom>
          <a:solidFill>
            <a:srgbClr val="2D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6120" y="2926080"/>
            <a:ext cx="2651760" cy="91440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30632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200"/>
                </a:solidFill>
                <a:latin typeface="Calibri"/>
              </a:rPr>
              <a:t>2. Assign Agency Leads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52044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Designate a data liaison from IDHW, IDJC, and IDOC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926080"/>
            <a:ext cx="2651760" cy="1737360"/>
          </a:xfrm>
          <a:prstGeom prst="rect">
            <a:avLst/>
          </a:prstGeom>
          <a:solidFill>
            <a:srgbClr val="2D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926080"/>
            <a:ext cx="2651760" cy="91440"/>
          </a:xfrm>
          <a:prstGeom prst="rect">
            <a:avLst/>
          </a:prstGeom>
          <a:solidFill>
            <a:srgbClr val="C8A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30632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200"/>
                </a:solidFill>
                <a:latin typeface="Calibri"/>
              </a:rPr>
              <a:t>3. Set Success Metrics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352044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Define what 'good' looks like: query speed, accuracy, usage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800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A90"/>
                </a:solidFill>
                <a:latin typeface="Calibri"/>
              </a:rPr>
              <a:t>State of Idaho  |  Federated AI Intelligence Mesh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