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?>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58"/>
  </p:normalViewPr>
  <p:slideViewPr>
    <p:cSldViewPr snapToGrid="0" snapToObjects="1">
      <p:cViewPr varScale="1">
        <p:scale>
          <a:sx n="160" d="100"/>
          <a:sy n="160" d="100"/>
        </p:scale>
        <p:origin x="784" y="17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457200"/>
            <a:ext cx="8686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Calibri"/>
              </a:rPr>
              <a:t>Idaho Federated AI Swarm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15087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5EEAD4"/>
                </a:solidFill>
                <a:latin typeface="Calibri"/>
              </a:rPr>
              <a:t>Technical Architecture &amp; Engineering Reference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2194560"/>
            <a:ext cx="3200400" cy="457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74320" y="2377440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Consolas"/>
              </a:rPr>
              <a:t>Stack: LangGraph · FastAPI · Flask · PostgreSQL · Neo4j · Qdrant · Redis · Ollama (mistral:7b, gemma2:9b)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292608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9488"/>
                </a:solidFill>
                <a:latin typeface="Consolas"/>
              </a:rPr>
              <a:t>Agencies: IDHW  ·  IDJC  ·  IDOC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466344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  <a:latin typeface="Calibri"/>
              </a:rPr>
              <a:t>Version 2.0  |  April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2D3B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74320" y="109728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System Architecture Overview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914400"/>
            <a:ext cx="8595360" cy="502920"/>
          </a:xfrm>
          <a:prstGeom prst="rect">
            <a:avLst/>
          </a:prstGeom>
          <a:solidFill>
            <a:srgbClr val="065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274320" y="914400"/>
            <a:ext cx="8595360" cy="54864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9875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6B6D4"/>
                </a:solidFill>
                <a:latin typeface="Consolas"/>
              </a:rPr>
              <a:t>REST API  (FastAPI · port 8000)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0" y="987552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  <a:latin typeface="Consolas"/>
              </a:rPr>
              <a:t>POST /query  |  GET /health  |  GET /audit/recent</a:t>
            </a:r>
          </a:p>
        </p:txBody>
      </p:sp>
      <p:sp>
        <p:nvSpPr>
          <p:cNvPr id="8" name="Rectangle 7"/>
          <p:cNvSpPr/>
          <p:nvPr/>
        </p:nvSpPr>
        <p:spPr>
          <a:xfrm>
            <a:off x="4434840" y="1417320"/>
            <a:ext cx="274320" cy="20116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274320" y="1618488"/>
            <a:ext cx="8595360" cy="594360"/>
          </a:xfrm>
          <a:prstGeom prst="rect">
            <a:avLst/>
          </a:prstGeom>
          <a:solidFill>
            <a:srgbClr val="2D3B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274320" y="1618488"/>
            <a:ext cx="8595360" cy="54864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7200" y="16916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EEAD4"/>
                </a:solidFill>
                <a:latin typeface="Consolas"/>
              </a:rPr>
              <a:t>LangGraph Controller  (intent → planner → router → idhw → extract_ids → [idjc|idoc] → reasoning → answer)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2212848"/>
            <a:ext cx="274320" cy="18288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274320" y="2395728"/>
            <a:ext cx="2743200" cy="640080"/>
          </a:xfrm>
          <a:prstGeom prst="rect">
            <a:avLst/>
          </a:prstGeom>
          <a:solidFill>
            <a:srgbClr val="1650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274320" y="2395728"/>
            <a:ext cx="2743200" cy="54864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65760" y="246888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IDHW MCP Server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278892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EEAD4"/>
                </a:solidFill>
                <a:latin typeface="Consolas"/>
              </a:rPr>
              <a:t>port 8001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154679" y="2395728"/>
            <a:ext cx="2743200" cy="640080"/>
          </a:xfrm>
          <a:prstGeom prst="rect">
            <a:avLst/>
          </a:prstGeom>
          <a:solidFill>
            <a:srgbClr val="0D6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3154679" y="2395728"/>
            <a:ext cx="2743200" cy="54864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246120" y="246888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IDJC MCP Server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46120" y="278892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EEAD4"/>
                </a:solidFill>
                <a:latin typeface="Consolas"/>
              </a:rPr>
              <a:t>port 8002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035040" y="2395728"/>
            <a:ext cx="2743200" cy="640080"/>
          </a:xfrm>
          <a:prstGeom prst="rect">
            <a:avLst/>
          </a:prstGeom>
          <a:solidFill>
            <a:srgbClr val="4C1D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035040" y="2395728"/>
            <a:ext cx="2743200" cy="54864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126479" y="246888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IDOC MCP Server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26479" y="278892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EEAD4"/>
                </a:solidFill>
                <a:latin typeface="Consolas"/>
              </a:rPr>
              <a:t>port 8003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434840" y="3035808"/>
            <a:ext cx="274320" cy="18288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274320" y="3218688"/>
            <a:ext cx="2011680" cy="731520"/>
          </a:xfrm>
          <a:prstGeom prst="rect">
            <a:avLst/>
          </a:prstGeom>
          <a:solidFill>
            <a:srgbClr val="1A4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65760" y="3255264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PostgreSQL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356616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EEAD4"/>
                </a:solidFill>
                <a:latin typeface="Consolas"/>
              </a:rPr>
              <a:t>Agency Data
port 5434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423160" y="3218688"/>
            <a:ext cx="2011680" cy="731520"/>
          </a:xfrm>
          <a:prstGeom prst="rect">
            <a:avLst/>
          </a:prstGeom>
          <a:solidFill>
            <a:srgbClr val="1A5C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2514600" y="3255264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Neo4j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514600" y="356616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EEAD4"/>
                </a:solidFill>
                <a:latin typeface="Consolas"/>
              </a:rPr>
              <a:t>Graph Memory
port 7688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0" y="3218688"/>
            <a:ext cx="2011680" cy="731520"/>
          </a:xfrm>
          <a:prstGeom prst="rect">
            <a:avLst/>
          </a:prstGeom>
          <a:solidFill>
            <a:srgbClr val="5B21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4663440" y="3255264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Qdrant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63440" y="356616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EEAD4"/>
                </a:solidFill>
                <a:latin typeface="Consolas"/>
              </a:rPr>
              <a:t>Vector Store
port 6335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720840" y="3218688"/>
            <a:ext cx="2011680" cy="731520"/>
          </a:xfrm>
          <a:prstGeom prst="rect">
            <a:avLst/>
          </a:prstGeom>
          <a:solidFill>
            <a:srgbClr val="7F1D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812280" y="3255264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Redis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12280" y="356616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EEAD4"/>
                </a:solidFill>
                <a:latin typeface="Consolas"/>
              </a:rPr>
              <a:t>Cache/Queue
port 6381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720840" y="3218688"/>
            <a:ext cx="2103120" cy="731520"/>
          </a:xfrm>
          <a:prstGeom prst="rect">
            <a:avLst/>
          </a:prstGeom>
          <a:solidFill>
            <a:srgbClr val="2D3B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6720840" y="3218688"/>
            <a:ext cx="73152" cy="7315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858000" y="3255264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59E0B"/>
                </a:solidFill>
                <a:latin typeface="Consolas"/>
              </a:rPr>
              <a:t>Ollama LLM (mistral:7b + gemma2:9b)
Host (not Docker) | Flask Web UI: 5056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2D3B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74320" y="109728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LangGraph State Machine — Execution DAG</a:t>
            </a:r>
          </a:p>
        </p:txBody>
      </p:sp>
      <p:sp>
        <p:nvSpPr>
          <p:cNvPr id="4" name="Rectangle 3"/>
          <p:cNvSpPr/>
          <p:nvPr/>
        </p:nvSpPr>
        <p:spPr>
          <a:xfrm>
            <a:off x="3840480" y="914400"/>
            <a:ext cx="2606040" cy="59436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913632" y="950976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onsolas"/>
              </a:rPr>
              <a:t>intent_node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913632" y="1216152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FFF5"/>
                </a:solidFill>
                <a:latin typeface="Calibri"/>
              </a:rPr>
              <a:t>Validate &amp; init state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0" y="1508760"/>
            <a:ext cx="228600" cy="18288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3840480" y="1691640"/>
            <a:ext cx="2606040" cy="59436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913632" y="1728216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onsolas"/>
              </a:rPr>
              <a:t>planner_node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13632" y="1993392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FFF5"/>
                </a:solidFill>
                <a:latin typeface="Calibri"/>
              </a:rPr>
              <a:t>LLM: decompose plan
route to agencies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0" y="2286000"/>
            <a:ext cx="228600" cy="18288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840480" y="2514600"/>
            <a:ext cx="2606040" cy="59436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913632" y="2551176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onsolas"/>
              </a:rPr>
              <a:t>router_node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13632" y="2816352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FFF5"/>
                </a:solidFill>
                <a:latin typeface="Calibri"/>
              </a:rPr>
              <a:t>Select agency nodes
(conditional edges)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0" y="3108960"/>
            <a:ext cx="228600" cy="18288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274320" y="3337560"/>
            <a:ext cx="2560320" cy="594360"/>
          </a:xfrm>
          <a:prstGeom prst="rect">
            <a:avLst/>
          </a:prstGeom>
          <a:solidFill>
            <a:srgbClr val="1650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65760" y="338327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onsolas"/>
              </a:rPr>
              <a:t>execute_idhw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363016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EEAD4"/>
                </a:solidFill>
                <a:latin typeface="Calibri"/>
              </a:rPr>
              <a:t>[SEQUENTIAL] Returns partial dict
keys: idhw_data, sources, errors
→ extract_parent_ids_node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337560" y="3337560"/>
            <a:ext cx="2560320" cy="594360"/>
          </a:xfrm>
          <a:prstGeom prst="rect">
            <a:avLst/>
          </a:prstGeom>
          <a:solidFill>
            <a:srgbClr val="0D6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3429000" y="338327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onsolas"/>
              </a:rPr>
              <a:t>execute_idjc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29000" y="363016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EEAD4"/>
                </a:solidFill>
                <a:latin typeface="Calibri"/>
              </a:rPr>
              <a:t>[PARALLEL] Returns partial dict
keys: idjc_data, juvenile_ids, errors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55080" y="3337560"/>
            <a:ext cx="2560320" cy="594360"/>
          </a:xfrm>
          <a:prstGeom prst="rect">
            <a:avLst/>
          </a:prstGeom>
          <a:solidFill>
            <a:srgbClr val="4C1D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446520" y="338327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onsolas"/>
              </a:rPr>
              <a:t>execute_idoc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46520" y="363016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EEAD4"/>
                </a:solidFill>
                <a:latin typeface="Calibri"/>
              </a:rPr>
              <a:t>[PARALLEL] Returns partial dict
keys: idoc_data, incarcerated_ids, errors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417320" y="3108960"/>
            <a:ext cx="228600" cy="2286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4480560" y="3108960"/>
            <a:ext cx="228600" cy="2286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7498079" y="3108960"/>
            <a:ext cx="228600" cy="2286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3429000" y="4041648"/>
            <a:ext cx="2971800" cy="56692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3520440" y="408736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onsolas"/>
              </a:rPr>
              <a:t>reasoning_node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20440" y="434340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EEAD4"/>
                </a:solidFill>
                <a:latin typeface="Calibri"/>
              </a:rPr>
              <a:t>Ephemeral graph: builds PARENT_OF edges, counts cross-agency matches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800600" y="4608576"/>
            <a:ext cx="228600" cy="18288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3429000" y="4617720"/>
            <a:ext cx="2971800" cy="365760"/>
          </a:xfrm>
          <a:prstGeom prst="rect">
            <a:avLst/>
          </a:prstGeom>
          <a:solidFill>
            <a:srgbClr val="2D3B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3429000" y="4617720"/>
            <a:ext cx="2971800" cy="457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3566160" y="46634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9E0B"/>
                </a:solidFill>
                <a:latin typeface="Consolas"/>
              </a:rPr>
              <a:t>answer_node  →  END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74320" y="4864608"/>
            <a:ext cx="8686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F59E0B"/>
                </a:solidFill>
                <a:latin typeface="Calibri"/>
              </a:rPr>
              <a:t>⚠  IDHW runs first (sequential), then IDJC+IDOC in parallel after extract_parent_ids_node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2D3B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74320" y="109728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InsightState — LangGraph Shared State Schema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868680"/>
            <a:ext cx="5029200" cy="416052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274320" y="868680"/>
            <a:ext cx="5029200" cy="457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65760" y="960120"/>
            <a:ext cx="4846320" cy="397763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5EEAD4"/>
                </a:solidFill>
                <a:latin typeface="Consolas"/>
              </a:rPr>
              <a:t>class InsightState(TypedDict):</a:t>
            </a:r>
          </a:p>
          <a:p>
            <a:r>
              <a:rPr sz="900">
                <a:solidFill>
                  <a:srgbClr val="5EEAD4"/>
                </a:solidFill>
                <a:latin typeface="Consolas"/>
              </a:rPr>
              <a:t xml:space="preserve">    # Inputs</a:t>
            </a:r>
          </a:p>
          <a:p>
            <a:r>
              <a:rPr sz="900">
                <a:solidFill>
                  <a:srgbClr val="5EEAD4"/>
                </a:solidFill>
                <a:latin typeface="Consolas"/>
              </a:rPr>
              <a:t xml:space="preserve">    question:        str</a:t>
            </a:r>
          </a:p>
          <a:p>
            <a:r>
              <a:rPr sz="900">
                <a:solidFill>
                  <a:srgbClr val="5EEAD4"/>
                </a:solidFill>
                <a:latin typeface="Consolas"/>
              </a:rPr>
              <a:t xml:space="preserve">    intent:          Optional[QueryIntent]</a:t>
            </a:r>
          </a:p>
          <a:p>
            <a:r>
              <a:rPr sz="900">
                <a:solidFill>
                  <a:srgbClr val="5EEAD4"/>
                </a:solidFill>
                <a:latin typeface="Consolas"/>
              </a:rPr>
              <a:t xml:space="preserve">    plan:            list[str]</a:t>
            </a:r>
          </a:p>
          <a:p>
            <a:r>
              <a:rPr sz="900">
                <a:solidFill>
                  <a:srgbClr val="5EEAD4"/>
                </a:solidFill>
                <a:latin typeface="Consolas"/>
              </a:rPr>
              <a:t xml:space="preserve">    agencies:        list[AgencyName]</a:t>
            </a:r>
          </a:p>
          <a:p>
            <a:r>
              <a:rPr sz="900">
                <a:solidFill>
                  <a:srgbClr val="5EEAD4"/>
                </a:solidFill>
                <a:latin typeface="Consolas"/>
              </a:rPr>
              <a:t xml:space="preserve">    </a:t>
            </a:r>
          </a:p>
          <a:p>
            <a:r>
              <a:rPr sz="900">
                <a:solidFill>
                  <a:srgbClr val="5EEAD4"/>
                </a:solidFill>
                <a:latin typeface="Consolas"/>
              </a:rPr>
              <a:t xml:space="preserve">    # Agency results (written by parallel nodes)</a:t>
            </a:r>
          </a:p>
          <a:p>
            <a:r>
              <a:rPr sz="900">
                <a:solidFill>
                  <a:srgbClr val="5EEAD4"/>
                </a:solidFill>
                <a:latin typeface="Consolas"/>
              </a:rPr>
              <a:t xml:space="preserve">    idhw_data:       dict[str, Any]</a:t>
            </a:r>
          </a:p>
          <a:p>
            <a:r>
              <a:rPr sz="900">
                <a:solidFill>
                  <a:srgbClr val="5EEAD4"/>
                </a:solidFill>
                <a:latin typeface="Consolas"/>
              </a:rPr>
              <a:t xml:space="preserve">    idjc_data:       dict[str, Any]</a:t>
            </a:r>
          </a:p>
          <a:p>
            <a:r>
              <a:rPr sz="900">
                <a:solidFill>
                  <a:srgbClr val="5EEAD4"/>
                </a:solidFill>
                <a:latin typeface="Consolas"/>
              </a:rPr>
              <a:t xml:space="preserve">    idoc_data:       dict[str, Any]</a:t>
            </a:r>
          </a:p>
          <a:p>
            <a:r>
              <a:rPr sz="900">
                <a:solidFill>
                  <a:srgbClr val="5EEAD4"/>
                </a:solidFill>
                <a:latin typeface="Consolas"/>
              </a:rPr>
              <a:t xml:space="preserve">    </a:t>
            </a:r>
          </a:p>
          <a:p>
            <a:r>
              <a:rPr sz="900">
                <a:solidFill>
                  <a:srgbClr val="5EEAD4"/>
                </a:solidFill>
                <a:latin typeface="Consolas"/>
              </a:rPr>
              <a:t xml:space="preserve">    # Parent linkage (from extract_parent_ids_node)
    parent_ids:      list[str]
    child_to_parents: dict[str, list]
    # Cross-agency reasoning</a:t>
            </a:r>
          </a:p>
          <a:p>
            <a:r>
              <a:rPr sz="900">
                <a:solidFill>
                  <a:srgbClr val="5EEAD4"/>
                </a:solidFill>
                <a:latin typeface="Consolas"/>
              </a:rPr>
              <a:t xml:space="preserve">    identity_matches: dict[str, Any]</a:t>
            </a:r>
          </a:p>
          <a:p>
            <a:r>
              <a:rPr sz="900">
                <a:solidFill>
                  <a:srgbClr val="5EEAD4"/>
                </a:solidFill>
                <a:latin typeface="Consolas"/>
              </a:rPr>
              <a:t xml:space="preserve">    reasoning_result: dict[str, Any]</a:t>
            </a:r>
          </a:p>
          <a:p>
            <a:r>
              <a:rPr sz="900">
                <a:solidFill>
                  <a:srgbClr val="5EEAD4"/>
                </a:solidFill>
                <a:latin typeface="Consolas"/>
              </a:rPr>
              <a:t xml:space="preserve">    </a:t>
            </a:r>
          </a:p>
          <a:p>
            <a:r>
              <a:rPr sz="900">
                <a:solidFill>
                  <a:srgbClr val="5EEAD4"/>
                </a:solidFill>
                <a:latin typeface="Consolas"/>
              </a:rPr>
              <a:t xml:space="preserve">    # Outputs — Annotated reducers required for parallel safety</a:t>
            </a:r>
          </a:p>
          <a:p>
            <a:r>
              <a:rPr sz="900">
                <a:solidFill>
                  <a:srgbClr val="5EEAD4"/>
                </a:solidFill>
                <a:latin typeface="Consolas"/>
              </a:rPr>
              <a:t xml:space="preserve">    answer:          str</a:t>
            </a:r>
          </a:p>
          <a:p>
            <a:r>
              <a:rPr sz="900">
                <a:solidFill>
                  <a:srgbClr val="5EEAD4"/>
                </a:solidFill>
                <a:latin typeface="Consolas"/>
              </a:rPr>
              <a:t xml:space="preserve">    confidence:      float</a:t>
            </a:r>
          </a:p>
          <a:p>
            <a:r>
              <a:rPr sz="900">
                <a:solidFill>
                  <a:srgbClr val="5EEAD4"/>
                </a:solidFill>
                <a:latin typeface="Consolas"/>
              </a:rPr>
              <a:t xml:space="preserve">    sources:         Annotated[list[str], operator.add]</a:t>
            </a:r>
          </a:p>
          <a:p>
            <a:r>
              <a:rPr sz="900">
                <a:solidFill>
                  <a:srgbClr val="5EEAD4"/>
                </a:solidFill>
                <a:latin typeface="Consolas"/>
              </a:rPr>
              <a:t xml:space="preserve">    errors:          Annotated[list[str], operator.add]</a:t>
            </a:r>
          </a:p>
          <a:p>
            <a:r>
              <a:rPr sz="900">
                <a:solidFill>
                  <a:srgbClr val="5EEAD4"/>
                </a:solidFill>
                <a:latin typeface="Consolas"/>
              </a:rPr>
              <a:t xml:space="preserve">    execution_trace: Annotated[list[str], operator.add]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0" y="914400"/>
            <a:ext cx="3474720" cy="914400"/>
          </a:xfrm>
          <a:prstGeom prst="rect">
            <a:avLst/>
          </a:prstGeom>
          <a:solidFill>
            <a:srgbClr val="2D3B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486400" y="914400"/>
            <a:ext cx="73152" cy="9144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623560" y="969264"/>
            <a:ext cx="3246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9488"/>
                </a:solidFill>
                <a:latin typeface="Calibri"/>
              </a:rPr>
              <a:t>Annotated Reducers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23560" y="1261872"/>
            <a:ext cx="3246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sources, errors, execution_trace use operator.add so parallel nodes can append without concurrent write conflicts.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0" y="1938528"/>
            <a:ext cx="3474720" cy="914400"/>
          </a:xfrm>
          <a:prstGeom prst="rect">
            <a:avLst/>
          </a:prstGeom>
          <a:solidFill>
            <a:srgbClr val="2D3B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486400" y="1938528"/>
            <a:ext cx="73152" cy="9144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623560" y="1993392"/>
            <a:ext cx="3246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9488"/>
                </a:solidFill>
                <a:latin typeface="Calibri"/>
              </a:rPr>
              <a:t>Partial Dict Returns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23560" y="2286000"/>
            <a:ext cx="3246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Each node returns ONLY the keys it modifies. Never return the full InsightState from a node.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0" y="2962656"/>
            <a:ext cx="3474720" cy="914400"/>
          </a:xfrm>
          <a:prstGeom prst="rect">
            <a:avLst/>
          </a:prstGeom>
          <a:solidFill>
            <a:srgbClr val="2D3B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5486400" y="2962656"/>
            <a:ext cx="73152" cy="9144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623560" y="3017520"/>
            <a:ext cx="3246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9488"/>
                </a:solidFill>
                <a:latin typeface="Calibri"/>
              </a:rPr>
              <a:t>Agency Names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23560" y="3310128"/>
            <a:ext cx="3246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AgencyName is an Enum: IDHW | IDJC | IDOC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0" y="3986784"/>
            <a:ext cx="3474720" cy="914400"/>
          </a:xfrm>
          <a:prstGeom prst="rect">
            <a:avLst/>
          </a:prstGeom>
          <a:solidFill>
            <a:srgbClr val="2D3B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5486400" y="3986784"/>
            <a:ext cx="73152" cy="9144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623560" y="4041648"/>
            <a:ext cx="3246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9488"/>
                </a:solidFill>
                <a:latin typeface="Calibri"/>
              </a:rPr>
              <a:t>Thread Memory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23560" y="4334256"/>
            <a:ext cx="3246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MemorySaver checkpoint enables multi-turn conversation with configurable thread_id per user session.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2D3B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74320" y="109728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MCP Server Pattern — Agency Tool Interface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868680"/>
            <a:ext cx="4114800" cy="36576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896112"/>
            <a:ext cx="3931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Available Tools by Agency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325880"/>
            <a:ext cx="685800" cy="731520"/>
          </a:xfrm>
          <a:prstGeom prst="rect">
            <a:avLst/>
          </a:prstGeom>
          <a:solidFill>
            <a:srgbClr val="1650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74320" y="1490472"/>
            <a:ext cx="685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IDHW</a:t>
            </a:r>
          </a:p>
        </p:txBody>
      </p:sp>
      <p:sp>
        <p:nvSpPr>
          <p:cNvPr id="8" name="Rectangle 7"/>
          <p:cNvSpPr/>
          <p:nvPr/>
        </p:nvSpPr>
        <p:spPr>
          <a:xfrm>
            <a:off x="960120" y="1325880"/>
            <a:ext cx="3429000" cy="731520"/>
          </a:xfrm>
          <a:prstGeom prst="rect">
            <a:avLst/>
          </a:prstGeom>
          <a:solidFill>
            <a:srgbClr val="2D3B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1005840" y="1417320"/>
            <a:ext cx="1600200" cy="27432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60704" y="1453896"/>
            <a:ext cx="1508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EEAD4"/>
                </a:solidFill>
                <a:latin typeface="Consolas"/>
              </a:rPr>
              <a:t>get_children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697480" y="1417320"/>
            <a:ext cx="1600200" cy="27432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752344" y="1453896"/>
            <a:ext cx="1508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EEAD4"/>
                </a:solidFill>
                <a:latin typeface="Consolas"/>
              </a:rPr>
              <a:t>get_family_relationships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05840" y="1755648"/>
            <a:ext cx="1600200" cy="27432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60704" y="1792224"/>
            <a:ext cx="1508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EEAD4"/>
                </a:solidFill>
                <a:latin typeface="Consolas"/>
              </a:rPr>
              <a:t>get_person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697480" y="1755648"/>
            <a:ext cx="1600200" cy="27432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2752344" y="1792224"/>
            <a:ext cx="1508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EEAD4"/>
                </a:solidFill>
                <a:latin typeface="Consolas"/>
              </a:rPr>
              <a:t>get_people_bulk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2167128"/>
            <a:ext cx="685800" cy="731520"/>
          </a:xfrm>
          <a:prstGeom prst="rect">
            <a:avLst/>
          </a:prstGeom>
          <a:solidFill>
            <a:srgbClr val="0D6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274320" y="2331720"/>
            <a:ext cx="685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IDJC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60120" y="2167128"/>
            <a:ext cx="3429000" cy="731520"/>
          </a:xfrm>
          <a:prstGeom prst="rect">
            <a:avLst/>
          </a:prstGeom>
          <a:solidFill>
            <a:srgbClr val="2D3B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1005840" y="2258568"/>
            <a:ext cx="1600200" cy="27432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060704" y="2295144"/>
            <a:ext cx="1508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EEAD4"/>
                </a:solidFill>
                <a:latin typeface="Consolas"/>
              </a:rPr>
              <a:t>get_commitments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697480" y="2258568"/>
            <a:ext cx="1600200" cy="27432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2752344" y="2295144"/>
            <a:ext cx="1508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EEAD4"/>
                </a:solidFill>
                <a:latin typeface="Consolas"/>
              </a:rPr>
              <a:t>get_active_commitments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05840" y="2596896"/>
            <a:ext cx="1600200" cy="27432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060704" y="2633472"/>
            <a:ext cx="1508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EEAD4"/>
                </a:solidFill>
                <a:latin typeface="Consolas"/>
              </a:rPr>
              <a:t>check_juvenile_record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697480" y="2596896"/>
            <a:ext cx="1600200" cy="27432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2752344" y="2633472"/>
            <a:ext cx="1508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EEAD4"/>
                </a:solidFill>
                <a:latin typeface="Consolas"/>
              </a:rPr>
              <a:t>search_commitments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4320" y="3008376"/>
            <a:ext cx="685800" cy="731520"/>
          </a:xfrm>
          <a:prstGeom prst="rect">
            <a:avLst/>
          </a:prstGeom>
          <a:solidFill>
            <a:srgbClr val="4C1D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274320" y="3172968"/>
            <a:ext cx="685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IDOC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60120" y="3008376"/>
            <a:ext cx="3429000" cy="731520"/>
          </a:xfrm>
          <a:prstGeom prst="rect">
            <a:avLst/>
          </a:prstGeom>
          <a:solidFill>
            <a:srgbClr val="2D3B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1005840" y="3099816"/>
            <a:ext cx="1600200" cy="27432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1060704" y="3136392"/>
            <a:ext cx="1508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EEAD4"/>
                </a:solidFill>
                <a:latin typeface="Consolas"/>
              </a:rPr>
              <a:t>get_active_offenders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697480" y="3099816"/>
            <a:ext cx="1600200" cy="27432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2752344" y="3136392"/>
            <a:ext cx="1508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EEAD4"/>
                </a:solidFill>
                <a:latin typeface="Consolas"/>
              </a:rPr>
              <a:t>get_people_bulk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005840" y="3438144"/>
            <a:ext cx="1600200" cy="27432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1060704" y="3474720"/>
            <a:ext cx="1508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EEAD4"/>
                </a:solidFill>
                <a:latin typeface="Consolas"/>
              </a:rPr>
              <a:t>check_incarceration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697480" y="3438144"/>
            <a:ext cx="1600200" cy="27432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2752344" y="3474720"/>
            <a:ext cx="1508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EEAD4"/>
                </a:solidFill>
                <a:latin typeface="Consolas"/>
              </a:rPr>
              <a:t>search_sentences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72000" y="868680"/>
            <a:ext cx="4389120" cy="36576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4663440" y="896112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MCP Execute Request / Response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72000" y="1325880"/>
            <a:ext cx="4389120" cy="370332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4572000" y="1325880"/>
            <a:ext cx="4389120" cy="457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4663440" y="1417320"/>
            <a:ext cx="4206240" cy="352043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5EEAD4"/>
                </a:solidFill>
                <a:latin typeface="Consolas"/>
              </a:rPr>
              <a:t># Request</a:t>
            </a:r>
          </a:p>
          <a:p>
            <a:r>
              <a:rPr sz="900">
                <a:solidFill>
                  <a:srgbClr val="5EEAD4"/>
                </a:solidFill>
                <a:latin typeface="Consolas"/>
              </a:rPr>
              <a:t>POST /execute</a:t>
            </a:r>
          </a:p>
          <a:p>
            <a:r>
              <a:rPr sz="900">
                <a:solidFill>
                  <a:srgbClr val="5EEAD4"/>
                </a:solidFill>
                <a:latin typeface="Consolas"/>
              </a:rPr>
              <a:t>{</a:t>
            </a:r>
          </a:p>
          <a:p>
            <a:r>
              <a:rPr sz="900">
                <a:solidFill>
                  <a:srgbClr val="5EEAD4"/>
                </a:solidFill>
                <a:latin typeface="Consolas"/>
              </a:rPr>
              <a:t xml:space="preserve">  "tool_name": "get_people_bulk",</a:t>
            </a:r>
          </a:p>
          <a:p>
            <a:r>
              <a:rPr sz="900">
                <a:solidFill>
                  <a:srgbClr val="5EEAD4"/>
                </a:solidFill>
                <a:latin typeface="Consolas"/>
              </a:rPr>
              <a:t xml:space="preserve">  "params": {</a:t>
            </a:r>
          </a:p>
          <a:p>
            <a:r>
              <a:rPr sz="900">
                <a:solidFill>
                  <a:srgbClr val="5EEAD4"/>
                </a:solidFill>
                <a:latin typeface="Consolas"/>
              </a:rPr>
              <a:t xml:space="preserve">    "insight_ids": ["abc123", "def456"]</a:t>
            </a:r>
          </a:p>
          <a:p>
            <a:r>
              <a:rPr sz="900">
                <a:solidFill>
                  <a:srgbClr val="5EEAD4"/>
                </a:solidFill>
                <a:latin typeface="Consolas"/>
              </a:rPr>
              <a:t xml:space="preserve">  }</a:t>
            </a:r>
          </a:p>
          <a:p>
            <a:r>
              <a:rPr sz="900">
                <a:solidFill>
                  <a:srgbClr val="5EEAD4"/>
                </a:solidFill>
                <a:latin typeface="Consolas"/>
              </a:rPr>
              <a:t>}</a:t>
            </a:r>
          </a:p>
          <a:p>
            <a:endParaRPr sz="900">
              <a:solidFill>
                <a:srgbClr val="5EEAD4"/>
              </a:solidFill>
              <a:latin typeface="Consolas"/>
            </a:endParaRPr>
          </a:p>
          <a:p>
            <a:r>
              <a:rPr sz="900">
                <a:solidFill>
                  <a:srgbClr val="5EEAD4"/>
                </a:solidFill>
                <a:latin typeface="Consolas"/>
              </a:rPr>
              <a:t># Response</a:t>
            </a:r>
          </a:p>
          <a:p>
            <a:r>
              <a:rPr sz="900">
                <a:solidFill>
                  <a:srgbClr val="5EEAD4"/>
                </a:solidFill>
                <a:latin typeface="Consolas"/>
              </a:rPr>
              <a:t>{</a:t>
            </a:r>
          </a:p>
          <a:p>
            <a:r>
              <a:rPr sz="900">
                <a:solidFill>
                  <a:srgbClr val="5EEAD4"/>
                </a:solidFill>
                <a:latin typeface="Consolas"/>
              </a:rPr>
              <a:t xml:space="preserve">  "status": "success",</a:t>
            </a:r>
          </a:p>
          <a:p>
            <a:r>
              <a:rPr sz="900">
                <a:solidFill>
                  <a:srgbClr val="5EEAD4"/>
                </a:solidFill>
                <a:latin typeface="Consolas"/>
              </a:rPr>
              <a:t xml:space="preserve">  "tool": "get_people_bulk",</a:t>
            </a:r>
          </a:p>
          <a:p>
            <a:r>
              <a:rPr sz="900">
                <a:solidFill>
                  <a:srgbClr val="5EEAD4"/>
                </a:solidFill>
                <a:latin typeface="Consolas"/>
              </a:rPr>
              <a:t xml:space="preserve">  "result": [</a:t>
            </a:r>
          </a:p>
          <a:p>
            <a:r>
              <a:rPr sz="900">
                <a:solidFill>
                  <a:srgbClr val="5EEAD4"/>
                </a:solidFill>
                <a:latin typeface="Consolas"/>
              </a:rPr>
              <a:t xml:space="preserve">    {"insight_id": "abc123", ...},</a:t>
            </a:r>
          </a:p>
          <a:p>
            <a:r>
              <a:rPr sz="900">
                <a:solidFill>
                  <a:srgbClr val="5EEAD4"/>
                </a:solidFill>
                <a:latin typeface="Consolas"/>
              </a:rPr>
              <a:t xml:space="preserve">  ]</a:t>
            </a:r>
          </a:p>
          <a:p>
            <a:r>
              <a:rPr sz="900">
                <a:solidFill>
                  <a:srgbClr val="5EEAD4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2D3B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74320" y="109728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Database Stack — Four-Store 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228600" y="868680"/>
            <a:ext cx="4206240" cy="1920240"/>
          </a:xfrm>
          <a:prstGeom prst="rect">
            <a:avLst/>
          </a:prstGeom>
          <a:solidFill>
            <a:srgbClr val="1A4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228600" y="868680"/>
            <a:ext cx="4206240" cy="7315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228600" y="868680"/>
            <a:ext cx="73152" cy="192024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93192" y="978407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PostgreSQL 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" y="1325880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6B6D4"/>
                </a:solidFill>
                <a:latin typeface="Consolas"/>
              </a:rPr>
              <a:t>port 5434</a:t>
            </a:r>
          </a:p>
        </p:txBody>
      </p:sp>
      <p:sp>
        <p:nvSpPr>
          <p:cNvPr id="9" name="Rectangle 8"/>
          <p:cNvSpPr/>
          <p:nvPr/>
        </p:nvSpPr>
        <p:spPr>
          <a:xfrm>
            <a:off x="2971800" y="978407"/>
            <a:ext cx="1298448" cy="3200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971800" y="1005839"/>
            <a:ext cx="129844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6B6D4"/>
                </a:solidFill>
                <a:latin typeface="Calibri"/>
              </a:rPr>
              <a:t>Relational Store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" y="1645919"/>
            <a:ext cx="38404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· fed_idhw — foster care records (IDHWPerson)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3192" y="1874519"/>
            <a:ext cx="38404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· fed_idjc — juvenile commitments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" y="2103120"/>
            <a:ext cx="38404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· fed_idoc — sentences &amp; offender records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" y="2331720"/>
            <a:ext cx="38404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· insight_id indexed on all tables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3192" y="2560320"/>
            <a:ext cx="38404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· SQLAlchemy async ORM (asyncpg driver)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709160" y="868680"/>
            <a:ext cx="4206240" cy="1920240"/>
          </a:xfrm>
          <a:prstGeom prst="rect">
            <a:avLst/>
          </a:prstGeom>
          <a:solidFill>
            <a:srgbClr val="1A5C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4709160" y="868680"/>
            <a:ext cx="4206240" cy="7315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4709160" y="868680"/>
            <a:ext cx="73152" cy="19202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873752" y="978407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Neo4j 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73752" y="1325880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0B981"/>
                </a:solidFill>
                <a:latin typeface="Consolas"/>
              </a:rPr>
              <a:t>bolt: 7688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452360" y="978407"/>
            <a:ext cx="1298448" cy="3200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452360" y="1005839"/>
            <a:ext cx="129844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0B981"/>
                </a:solidFill>
                <a:latin typeface="Calibri"/>
              </a:rPr>
              <a:t>Graph Memory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73752" y="1645919"/>
            <a:ext cx="38404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· Cross-agency identity graph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73752" y="1874519"/>
            <a:ext cx="38404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· Nodes: Person (with agency label)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73752" y="2103120"/>
            <a:ext cx="38404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· Relationships: PARENT_OF, HAS_COMMITMENT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73752" y="2331720"/>
            <a:ext cx="38404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· Enables Cypher graph traversal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73752" y="2560320"/>
            <a:ext cx="38404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· Used by reasoning_node for identity matching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28600" y="2880360"/>
            <a:ext cx="4206240" cy="1920240"/>
          </a:xfrm>
          <a:prstGeom prst="rect">
            <a:avLst/>
          </a:prstGeom>
          <a:solidFill>
            <a:srgbClr val="5B21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228600" y="2880360"/>
            <a:ext cx="4206240" cy="731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228600" y="2880360"/>
            <a:ext cx="73152" cy="19202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393192" y="2990088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Qdrant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93192" y="3337560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C3AED"/>
                </a:solidFill>
                <a:latin typeface="Consolas"/>
              </a:rPr>
              <a:t>port 6335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971800" y="2990088"/>
            <a:ext cx="1298448" cy="3200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2971800" y="3017520"/>
            <a:ext cx="129844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7C3AED"/>
                </a:solidFill>
                <a:latin typeface="Calibri"/>
              </a:rPr>
              <a:t>Vector Search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93192" y="3657600"/>
            <a:ext cx="38404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· Semantic similarity for fuzzy name matching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93192" y="3886200"/>
            <a:ext cx="38404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· Query embedding storage for caching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93192" y="4114800"/>
            <a:ext cx="38404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· Future: document &amp; case note similarity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93192" y="4343400"/>
            <a:ext cx="38404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· Collection: agency_embeddings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3192" y="4572000"/>
            <a:ext cx="38404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· Model: all-minilm (Ollama)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709160" y="2880360"/>
            <a:ext cx="4206240" cy="1920240"/>
          </a:xfrm>
          <a:prstGeom prst="rect">
            <a:avLst/>
          </a:prstGeom>
          <a:solidFill>
            <a:srgbClr val="7F1D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4709160" y="2880360"/>
            <a:ext cx="4206240" cy="7315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4709160" y="2880360"/>
            <a:ext cx="73152" cy="19202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4873752" y="2990088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Redis 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873752" y="3337560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59E0B"/>
                </a:solidFill>
                <a:latin typeface="Consolas"/>
              </a:rPr>
              <a:t>port 6381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452360" y="2990088"/>
            <a:ext cx="1298448" cy="3200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7452360" y="3017520"/>
            <a:ext cx="129844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59E0B"/>
                </a:solidFill>
                <a:latin typeface="Calibri"/>
              </a:rPr>
              <a:t>Cache &amp; Queue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873752" y="3657600"/>
            <a:ext cx="38404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· Query result caching (TTL 5 min)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873752" y="3886200"/>
            <a:ext cx="38404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· Rate limiting per agency endpoint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73752" y="4114800"/>
            <a:ext cx="38404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· Future: async job queue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73752" y="4343400"/>
            <a:ext cx="38404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· Stream: audit_log for audit trail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873752" y="4572000"/>
            <a:ext cx="38404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· Connection: asyncio-redis client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2D3B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74320" y="109728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Data Models — Key Fields per Agency</a:t>
            </a:r>
          </a:p>
        </p:txBody>
      </p:sp>
      <p:sp>
        <p:nvSpPr>
          <p:cNvPr id="4" name="Rectangle 3"/>
          <p:cNvSpPr/>
          <p:nvPr/>
        </p:nvSpPr>
        <p:spPr>
          <a:xfrm>
            <a:off x="228600" y="868680"/>
            <a:ext cx="2834640" cy="4114800"/>
          </a:xfrm>
          <a:prstGeom prst="rect">
            <a:avLst/>
          </a:prstGeom>
          <a:solidFill>
            <a:srgbClr val="1650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228600" y="868680"/>
            <a:ext cx="2834640" cy="7315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20040" y="914400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IDHWPerson
(fed_idhw)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46304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6B6D4"/>
                </a:solidFill>
                <a:latin typeface="Consolas"/>
              </a:rPr>
              <a:t>insight_id        PK string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1810512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6B6D4"/>
                </a:solidFill>
                <a:latin typeface="Consolas"/>
              </a:rPr>
              <a:t>child_insight_id  FK → child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2157984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6B6D4"/>
                </a:solidFill>
                <a:latin typeface="Consolas"/>
              </a:rPr>
              <a:t>mother_insight_id FK → parent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505456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6B6D4"/>
                </a:solidFill>
                <a:latin typeface="Consolas"/>
              </a:rPr>
              <a:t>father_insight_id FK → parent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2852928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EEAD4"/>
                </a:solidFill>
                <a:latin typeface="Consolas"/>
              </a:rPr>
              <a:t>person_type       child|parent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" y="320040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EEAD4"/>
                </a:solidFill>
                <a:latin typeface="Consolas"/>
              </a:rPr>
              <a:t>dob_month, dob_year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" y="3547872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EEAD4"/>
                </a:solidFill>
                <a:latin typeface="Consolas"/>
              </a:rPr>
              <a:t>person_type, gender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895344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EEAD4"/>
                </a:solidFill>
                <a:latin typeface="Consolas"/>
              </a:rPr>
              <a:t>start_care_date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040" y="4242816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EEAD4"/>
                </a:solidFill>
                <a:latin typeface="Consolas"/>
              </a:rPr>
              <a:t>end_care_date, end_reason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4590288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EEAD4"/>
                </a:solidFill>
                <a:latin typeface="Consolas"/>
              </a:rPr>
              <a:t>tpr_date, death_date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0" y="868680"/>
            <a:ext cx="2834640" cy="4114800"/>
          </a:xfrm>
          <a:prstGeom prst="rect">
            <a:avLst/>
          </a:prstGeom>
          <a:solidFill>
            <a:srgbClr val="0D6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3200400" y="868680"/>
            <a:ext cx="2834640" cy="7315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291840" y="914400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IJCCommitment
(fed_idjc)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91840" y="146304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0B981"/>
                </a:solidFill>
                <a:latin typeface="Consolas"/>
              </a:rPr>
              <a:t>insight_id        FK global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91840" y="1810512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0B981"/>
                </a:solidFill>
                <a:latin typeface="Consolas"/>
              </a:rPr>
              <a:t>ijos_id           agency PK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91840" y="2157984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EEAD4"/>
                </a:solidFill>
                <a:latin typeface="Consolas"/>
              </a:rPr>
              <a:t>dob_month, dob_year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91840" y="2505456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EEAD4"/>
                </a:solidFill>
                <a:latin typeface="Consolas"/>
              </a:rPr>
              <a:t>dob_month, dob_year, gender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91840" y="2852928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EEAD4"/>
                </a:solidFill>
                <a:latin typeface="Consolas"/>
              </a:rPr>
              <a:t>status            ACTIVE|CLOSED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91840" y="320040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EEAD4"/>
                </a:solidFill>
                <a:latin typeface="Consolas"/>
              </a:rPr>
              <a:t>offense_category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91840" y="3547872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EEAD4"/>
                </a:solidFill>
                <a:latin typeface="Consolas"/>
              </a:rPr>
              <a:t>offense_level     FELONY|MISDEMEANOR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91840" y="3895344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EEAD4"/>
                </a:solidFill>
                <a:latin typeface="Consolas"/>
              </a:rPr>
              <a:t>commitment_date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91840" y="4242816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EEAD4"/>
                </a:solidFill>
                <a:latin typeface="Consolas"/>
              </a:rPr>
              <a:t>committing_county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91840" y="4590288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EEAD4"/>
                </a:solidFill>
                <a:latin typeface="Consolas"/>
              </a:rPr>
              <a:t>significance_level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72200" y="868680"/>
            <a:ext cx="2834640" cy="4114800"/>
          </a:xfrm>
          <a:prstGeom prst="rect">
            <a:avLst/>
          </a:prstGeom>
          <a:solidFill>
            <a:srgbClr val="4C1D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6172200" y="868680"/>
            <a:ext cx="2834640" cy="731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263640" y="914400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IDOCSentence
(fed_idoc)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63640" y="146304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7C3AED"/>
                </a:solidFill>
                <a:latin typeface="Consolas"/>
              </a:rPr>
              <a:t>insight_id        FK global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63640" y="1810512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7C3AED"/>
                </a:solidFill>
                <a:latin typeface="Consolas"/>
              </a:rPr>
              <a:t>ofndr_num         agency PK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63640" y="2157984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EEAD4"/>
                </a:solidFill>
                <a:latin typeface="Consolas"/>
              </a:rPr>
              <a:t>dob_month, dob_year, gender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63640" y="2505456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EEAD4"/>
                </a:solidFill>
                <a:latin typeface="Consolas"/>
              </a:rPr>
              <a:t>state, cnty_sdesc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63640" y="2852928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EEAD4"/>
                </a:solidFill>
                <a:latin typeface="Consolas"/>
              </a:rPr>
              <a:t>sent_disp         sentence status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63640" y="320040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EEAD4"/>
                </a:solidFill>
                <a:latin typeface="Consolas"/>
              </a:rPr>
              <a:t>crt_dte           court date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63640" y="3547872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EEAD4"/>
                </a:solidFill>
                <a:latin typeface="Consolas"/>
              </a:rPr>
              <a:t>crme_grp          crime group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63640" y="3895344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EEAD4"/>
                </a:solidFill>
                <a:latin typeface="Consolas"/>
              </a:rPr>
              <a:t>ofnse_cd          offense code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263640" y="4242816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EEAD4"/>
                </a:solidFill>
                <a:latin typeface="Consolas"/>
              </a:rPr>
              <a:t>facility_cd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63640" y="4590288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EEAD4"/>
                </a:solidFill>
                <a:latin typeface="Consolas"/>
              </a:rPr>
              <a:t>parole_eligible_dt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2D3B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74320" y="109728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Deployment — Docker Compose Services</a:t>
            </a:r>
          </a:p>
        </p:txBody>
      </p:sp>
      <p:sp>
        <p:nvSpPr>
          <p:cNvPr id="4" name="Rectangle 3"/>
          <p:cNvSpPr/>
          <p:nvPr/>
        </p:nvSpPr>
        <p:spPr>
          <a:xfrm>
            <a:off x="228600" y="868680"/>
            <a:ext cx="2103120" cy="1261872"/>
          </a:xfrm>
          <a:prstGeom prst="rect">
            <a:avLst/>
          </a:prstGeom>
          <a:solidFill>
            <a:srgbClr val="1A4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228600" y="868680"/>
            <a:ext cx="2103120" cy="64008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01752" y="960120"/>
            <a:ext cx="1965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6B6D4"/>
                </a:solidFill>
                <a:latin typeface="Consolas"/>
              </a:rPr>
              <a:t>fed_swarm_postgres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1752" y="1280160"/>
            <a:ext cx="1965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PostgreSQL 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" y="1554480"/>
            <a:ext cx="1965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EEAD4"/>
                </a:solidFill>
                <a:latin typeface="Consolas"/>
              </a:rPr>
              <a:t>5434:5432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" y="1801368"/>
            <a:ext cx="1965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primary DB</a:t>
            </a:r>
          </a:p>
        </p:txBody>
      </p:sp>
      <p:sp>
        <p:nvSpPr>
          <p:cNvPr id="10" name="Rectangle 9"/>
          <p:cNvSpPr/>
          <p:nvPr/>
        </p:nvSpPr>
        <p:spPr>
          <a:xfrm>
            <a:off x="2450592" y="868680"/>
            <a:ext cx="2103120" cy="1261872"/>
          </a:xfrm>
          <a:prstGeom prst="rect">
            <a:avLst/>
          </a:prstGeom>
          <a:solidFill>
            <a:srgbClr val="1A5C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2450592" y="868680"/>
            <a:ext cx="2103120" cy="6400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523744" y="960120"/>
            <a:ext cx="1965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0B981"/>
                </a:solidFill>
                <a:latin typeface="Consolas"/>
              </a:rPr>
              <a:t>fed_swarm_neo4j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23744" y="1280160"/>
            <a:ext cx="1965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Neo4j 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23744" y="1554480"/>
            <a:ext cx="1965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EEAD4"/>
                </a:solidFill>
                <a:latin typeface="Consolas"/>
              </a:rPr>
              <a:t>7688/7475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23744" y="1801368"/>
            <a:ext cx="1965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graph store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672584" y="868680"/>
            <a:ext cx="2103120" cy="1261872"/>
          </a:xfrm>
          <a:prstGeom prst="rect">
            <a:avLst/>
          </a:prstGeom>
          <a:solidFill>
            <a:srgbClr val="5B21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4672584" y="868680"/>
            <a:ext cx="2103120" cy="6400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745736" y="960120"/>
            <a:ext cx="1965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7C3AED"/>
                </a:solidFill>
                <a:latin typeface="Consolas"/>
              </a:rPr>
              <a:t>fed_swarm_qdrant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45736" y="1280160"/>
            <a:ext cx="1965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Qdrant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45736" y="1554480"/>
            <a:ext cx="1965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EEAD4"/>
                </a:solidFill>
                <a:latin typeface="Consolas"/>
              </a:rPr>
              <a:t>6335:6333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45736" y="1801368"/>
            <a:ext cx="1965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vector store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94576" y="868680"/>
            <a:ext cx="2103120" cy="1261872"/>
          </a:xfrm>
          <a:prstGeom prst="rect">
            <a:avLst/>
          </a:prstGeom>
          <a:solidFill>
            <a:srgbClr val="7F1D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6894576" y="868680"/>
            <a:ext cx="2103120" cy="6400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967728" y="960120"/>
            <a:ext cx="1965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59E0B"/>
                </a:solidFill>
                <a:latin typeface="Consolas"/>
              </a:rPr>
              <a:t>fed_swarm_redis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67728" y="1280160"/>
            <a:ext cx="1965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Redis 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67728" y="1554480"/>
            <a:ext cx="1965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EEAD4"/>
                </a:solidFill>
                <a:latin typeface="Consolas"/>
              </a:rPr>
              <a:t>6381:6379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67728" y="1801368"/>
            <a:ext cx="1965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cache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28600" y="2286000"/>
            <a:ext cx="2103120" cy="1261872"/>
          </a:xfrm>
          <a:prstGeom prst="rect">
            <a:avLst/>
          </a:prstGeom>
          <a:solidFill>
            <a:srgbClr val="0D6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228600" y="2286000"/>
            <a:ext cx="2103120" cy="6400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301752" y="2377440"/>
            <a:ext cx="1965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D9488"/>
                </a:solidFill>
                <a:latin typeface="Consolas"/>
              </a:rPr>
              <a:t>fed_swarm_controller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01752" y="2697480"/>
            <a:ext cx="1965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Controller API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01752" y="2971800"/>
            <a:ext cx="1965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EEAD4"/>
                </a:solidFill>
                <a:latin typeface="Consolas"/>
              </a:rPr>
              <a:t>8000:8000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1752" y="3218688"/>
            <a:ext cx="1965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LangGraph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450592" y="2286000"/>
            <a:ext cx="2103120" cy="1261872"/>
          </a:xfrm>
          <a:prstGeom prst="rect">
            <a:avLst/>
          </a:prstGeom>
          <a:solidFill>
            <a:srgbClr val="1650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2450592" y="2286000"/>
            <a:ext cx="2103120" cy="64008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2523744" y="2377440"/>
            <a:ext cx="1965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6B6D4"/>
                </a:solidFill>
                <a:latin typeface="Consolas"/>
              </a:rPr>
              <a:t>idhw-agent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523744" y="2697480"/>
            <a:ext cx="1965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IDHW MCP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523744" y="2971800"/>
            <a:ext cx="1965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EEAD4"/>
                </a:solidFill>
                <a:latin typeface="Consolas"/>
              </a:rPr>
              <a:t>8001:8000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523744" y="3218688"/>
            <a:ext cx="1965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FastAPI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672584" y="2286000"/>
            <a:ext cx="2103120" cy="1261872"/>
          </a:xfrm>
          <a:prstGeom prst="rect">
            <a:avLst/>
          </a:prstGeom>
          <a:solidFill>
            <a:srgbClr val="0D6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4672584" y="2286000"/>
            <a:ext cx="2103120" cy="6400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4745736" y="2377440"/>
            <a:ext cx="1965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0B981"/>
                </a:solidFill>
                <a:latin typeface="Consolas"/>
              </a:rPr>
              <a:t>idjc-agent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745736" y="2697480"/>
            <a:ext cx="1965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IDJC MCP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745736" y="2971800"/>
            <a:ext cx="1965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EEAD4"/>
                </a:solidFill>
                <a:latin typeface="Consolas"/>
              </a:rPr>
              <a:t>8002:8000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745736" y="3218688"/>
            <a:ext cx="1965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FastAPI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894576" y="2286000"/>
            <a:ext cx="2103120" cy="1261872"/>
          </a:xfrm>
          <a:prstGeom prst="rect">
            <a:avLst/>
          </a:prstGeom>
          <a:solidFill>
            <a:srgbClr val="4C1D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angle 46"/>
          <p:cNvSpPr/>
          <p:nvPr/>
        </p:nvSpPr>
        <p:spPr>
          <a:xfrm>
            <a:off x="6894576" y="2286000"/>
            <a:ext cx="2103120" cy="6400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6967728" y="2377440"/>
            <a:ext cx="1965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7C3AED"/>
                </a:solidFill>
                <a:latin typeface="Consolas"/>
              </a:rPr>
              <a:t>idoc-agent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67728" y="2697480"/>
            <a:ext cx="1965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IDOC MCP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967728" y="2971800"/>
            <a:ext cx="1965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EEAD4"/>
                </a:solidFill>
                <a:latin typeface="Consolas"/>
              </a:rPr>
              <a:t>8003:8000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967728" y="3218688"/>
            <a:ext cx="1965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FastAPI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28600" y="3749039"/>
            <a:ext cx="8732520" cy="457200"/>
          </a:xfrm>
          <a:prstGeom prst="rect">
            <a:avLst/>
          </a:prstGeom>
          <a:solidFill>
            <a:srgbClr val="2D3B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Rectangle 52"/>
          <p:cNvSpPr/>
          <p:nvPr/>
        </p:nvSpPr>
        <p:spPr>
          <a:xfrm>
            <a:off x="228600" y="3749039"/>
            <a:ext cx="73152" cy="4572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365760" y="3822191"/>
            <a:ext cx="8503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onsolas"/>
              </a:rPr>
              <a:t>All containers on fed_swarm_network  |  Ollama runs on HOST (host.docker.internal:11434)  |  Volumes: fed_pg_data, fed_neo4j_data, fed_qdrant_data, fed_redis_data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28600" y="4297680"/>
            <a:ext cx="8732520" cy="548640"/>
          </a:xfrm>
          <a:prstGeom prst="rect">
            <a:avLst/>
          </a:prstGeom>
          <a:solidFill>
            <a:srgbClr val="2D3B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Rectangle 55"/>
          <p:cNvSpPr/>
          <p:nvPr/>
        </p:nvSpPr>
        <p:spPr>
          <a:xfrm>
            <a:off x="228600" y="4297680"/>
            <a:ext cx="73152" cy="5486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365760" y="4343400"/>
            <a:ext cx="8503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59E0B"/>
                </a:solidFill>
                <a:latin typeface="Consolas"/>
              </a:rPr>
              <a:t>Ports offset to avoid collision with existing Idaho services:
PG: 5434  |  Neo4j bolt: 7688  |  Qdrant: 6335  |  Redis: 6381  |  Controller: 8000  |  Agents: 8001-8003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2D3B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74320" y="109728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Cross-Agency Identity Resolution via insight_id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868680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EEAD4"/>
                </a:solidFill>
                <a:latin typeface="Calibri"/>
              </a:rPr>
              <a:t>insight_id is the global, pre-assigned identity key that links an individual across all three agency databases — no entity resolution required.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691640"/>
            <a:ext cx="4572000" cy="3246120"/>
          </a:xfrm>
          <a:prstGeom prst="rect">
            <a:avLst/>
          </a:prstGeom>
          <a:solidFill>
            <a:srgbClr val="2D3B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274320" y="1691640"/>
            <a:ext cx="4572000" cy="6400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1737360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9488"/>
                </a:solidFill>
                <a:latin typeface="Calibri"/>
              </a:rPr>
              <a:t>Match Priority (highest → lowest confidence)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2148840"/>
            <a:ext cx="594360" cy="56692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20040" y="2240280"/>
            <a:ext cx="594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D9488"/>
                </a:solidFill>
                <a:latin typeface="Consolas"/>
              </a:rPr>
              <a:t>1.0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1945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insight_id match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59736"/>
            <a:ext cx="3566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Guaranteed match — same global ID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2880360"/>
            <a:ext cx="594360" cy="56692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20040" y="2971800"/>
            <a:ext cx="594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0B981"/>
                </a:solidFill>
                <a:latin typeface="Consolas"/>
              </a:rPr>
              <a:t>0.98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29260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PARENT_OF edge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3191256"/>
            <a:ext cx="3566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Family link via mother/father insight_id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" y="3611880"/>
            <a:ext cx="594360" cy="56692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20040" y="3703320"/>
            <a:ext cx="594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59E0B"/>
                </a:solidFill>
                <a:latin typeface="Consolas"/>
              </a:rPr>
              <a:t>0.90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36576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IN_AGENCY edge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3922776"/>
            <a:ext cx="3566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Person present in agency database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0040" y="4343400"/>
            <a:ext cx="594360" cy="56692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20040" y="4434840"/>
            <a:ext cx="594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94A3B8"/>
                </a:solidFill>
                <a:latin typeface="Consolas"/>
              </a:rPr>
              <a:t>0.50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" y="43891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No match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4654296"/>
            <a:ext cx="3566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Person not found in target agency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0" y="868680"/>
            <a:ext cx="3931920" cy="4069080"/>
          </a:xfrm>
          <a:prstGeom prst="rect">
            <a:avLst/>
          </a:prstGeom>
          <a:solidFill>
            <a:srgbClr val="2D3B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5029200" y="868680"/>
            <a:ext cx="3931920" cy="7315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5029200" y="868680"/>
            <a:ext cx="73152" cy="406908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166360" y="914400"/>
            <a:ext cx="37490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6B6D4"/>
                </a:solidFill>
                <a:latin typeface="Calibri"/>
              </a:rPr>
              <a:t>IDHW Special: Family Mapping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74920" y="1325880"/>
            <a:ext cx="3840480" cy="35661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5074920" y="1325880"/>
            <a:ext cx="3840480" cy="457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166359" y="1417320"/>
            <a:ext cx="3657600" cy="338327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5EEAD4"/>
                </a:solidFill>
                <a:latin typeface="Consolas"/>
              </a:rPr>
              <a:t># IDHW has 3 insight_id fields:</a:t>
            </a:r>
          </a:p>
          <a:p>
            <a:endParaRPr sz="900">
              <a:solidFill>
                <a:srgbClr val="5EEAD4"/>
              </a:solidFill>
              <a:latin typeface="Consolas"/>
            </a:endParaRPr>
          </a:p>
          <a:p>
            <a:r>
              <a:rPr sz="900">
                <a:solidFill>
                  <a:srgbClr val="5EEAD4"/>
                </a:solidFill>
                <a:latin typeface="Consolas"/>
              </a:rPr>
              <a:t>insight_id         # person's own ID</a:t>
            </a:r>
          </a:p>
          <a:p>
            <a:r>
              <a:rPr sz="900">
                <a:solidFill>
                  <a:srgbClr val="5EEAD4"/>
                </a:solidFill>
                <a:latin typeface="Consolas"/>
              </a:rPr>
              <a:t>child_insight_id   # child record ID</a:t>
            </a:r>
          </a:p>
          <a:p>
            <a:r>
              <a:rPr sz="900">
                <a:solidFill>
                  <a:srgbClr val="5EEAD4"/>
                </a:solidFill>
                <a:latin typeface="Consolas"/>
              </a:rPr>
              <a:t>mother_insight_id  # → links to IDHW/IDOC</a:t>
            </a:r>
          </a:p>
          <a:p>
            <a:r>
              <a:rPr sz="900">
                <a:solidFill>
                  <a:srgbClr val="5EEAD4"/>
                </a:solidFill>
                <a:latin typeface="Consolas"/>
              </a:rPr>
              <a:t>father_insight_id  # → links to IDHW/IDOC</a:t>
            </a:r>
          </a:p>
          <a:p>
            <a:endParaRPr sz="900">
              <a:solidFill>
                <a:srgbClr val="5EEAD4"/>
              </a:solidFill>
              <a:latin typeface="Consolas"/>
            </a:endParaRPr>
          </a:p>
          <a:p>
            <a:r>
              <a:rPr sz="900">
                <a:solidFill>
                  <a:srgbClr val="5EEAD4"/>
                </a:solidFill>
                <a:latin typeface="Consolas"/>
              </a:rPr>
              <a:t># Cross-agency query pattern:</a:t>
            </a:r>
          </a:p>
          <a:p>
            <a:r>
              <a:rPr sz="900">
                <a:solidFill>
                  <a:srgbClr val="5EEAD4"/>
                </a:solidFill>
                <a:latin typeface="Consolas"/>
              </a:rPr>
              <a:t>1. IDHW: get child records</a:t>
            </a:r>
          </a:p>
          <a:p>
            <a:r>
              <a:rPr sz="900">
                <a:solidFill>
                  <a:srgbClr val="5EEAD4"/>
                </a:solidFill>
                <a:latin typeface="Consolas"/>
              </a:rPr>
              <a:t>2. Extract mother/father IDs</a:t>
            </a:r>
          </a:p>
          <a:p>
            <a:r>
              <a:rPr sz="900">
                <a:solidFill>
                  <a:srgbClr val="5EEAD4"/>
                </a:solidFill>
                <a:latin typeface="Consolas"/>
              </a:rPr>
              <a:t>3. IDOC: bulk lookup by insight_ids</a:t>
            </a:r>
          </a:p>
          <a:p>
            <a:r>
              <a:rPr sz="900">
                <a:solidFill>
                  <a:srgbClr val="5EEAD4"/>
                </a:solidFill>
                <a:latin typeface="Consolas"/>
              </a:rPr>
              <a:t>4. Neo4j: write PARENT_OF edges</a:t>
            </a:r>
          </a:p>
          <a:p>
            <a:r>
              <a:rPr sz="900">
                <a:solidFill>
                  <a:srgbClr val="5EEAD4"/>
                </a:solidFill>
                <a:latin typeface="Consolas"/>
              </a:rPr>
              <a:t>5. Reasoning: count matches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2D3B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74320" y="109728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Build Order — 6-Phase Production Path</a:t>
            </a:r>
          </a:p>
        </p:txBody>
      </p:sp>
      <p:sp>
        <p:nvSpPr>
          <p:cNvPr id="4" name="Rectangle 3"/>
          <p:cNvSpPr/>
          <p:nvPr/>
        </p:nvSpPr>
        <p:spPr>
          <a:xfrm>
            <a:off x="228600" y="868680"/>
            <a:ext cx="2834640" cy="1920240"/>
          </a:xfrm>
          <a:prstGeom prst="rect">
            <a:avLst/>
          </a:prstGeom>
          <a:solidFill>
            <a:srgbClr val="0D4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228600" y="868680"/>
            <a:ext cx="2834640" cy="7315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20040" y="97840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0B981"/>
                </a:solidFill>
                <a:latin typeface="Consolas"/>
              </a:rPr>
              <a:t>Phase 1</a:t>
            </a:r>
          </a:p>
        </p:txBody>
      </p:sp>
      <p:sp>
        <p:nvSpPr>
          <p:cNvPr id="7" name="Rectangle 6"/>
          <p:cNvSpPr/>
          <p:nvPr/>
        </p:nvSpPr>
        <p:spPr>
          <a:xfrm>
            <a:off x="2148840" y="960120"/>
            <a:ext cx="822960" cy="27432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103120" y="978407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0B981"/>
                </a:solidFill>
                <a:latin typeface="Calibri"/>
              </a:rPr>
              <a:t>✓ Complete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307592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Data Foundation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1691640"/>
            <a:ext cx="26517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EEAD4"/>
                </a:solidFill>
                <a:latin typeface="Calibri"/>
              </a:rPr>
              <a:t>PostgreSQL schema · CSV ingestion · insight_id validation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0" y="868680"/>
            <a:ext cx="2834640" cy="1920240"/>
          </a:xfrm>
          <a:prstGeom prst="rect">
            <a:avLst/>
          </a:prstGeom>
          <a:solidFill>
            <a:srgbClr val="0D4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200400" y="868680"/>
            <a:ext cx="2834640" cy="7315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291840" y="97840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0B981"/>
                </a:solidFill>
                <a:latin typeface="Consolas"/>
              </a:rPr>
              <a:t>Phase 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20640" y="960120"/>
            <a:ext cx="822960" cy="27432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074920" y="978407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0B981"/>
                </a:solidFill>
                <a:latin typeface="Calibri"/>
              </a:rPr>
              <a:t>✓ Complete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91840" y="1307592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Agency MCP Agents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91840" y="1691640"/>
            <a:ext cx="26517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EEAD4"/>
                </a:solidFill>
                <a:latin typeface="Calibri"/>
              </a:rPr>
              <a:t>FastAPI servers · 8+ tools per agency · /execute /capabilities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72200" y="868680"/>
            <a:ext cx="2834640" cy="1920240"/>
          </a:xfrm>
          <a:prstGeom prst="rect">
            <a:avLst/>
          </a:prstGeom>
          <a:solidFill>
            <a:srgbClr val="0D4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172200" y="868680"/>
            <a:ext cx="2834640" cy="7315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263640" y="97840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0B981"/>
                </a:solidFill>
                <a:latin typeface="Consolas"/>
              </a:rPr>
              <a:t>Phase 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92440" y="960120"/>
            <a:ext cx="822960" cy="27432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046720" y="9784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0B981"/>
                </a:solidFill>
                <a:latin typeface="Calibri"/>
              </a:rPr>
              <a:t>✓ Complete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1307592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MCP Federation Layer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63640" y="1691640"/>
            <a:ext cx="26517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EEAD4"/>
                </a:solidFill>
                <a:latin typeface="Calibri"/>
              </a:rPr>
              <a:t>MCPClient · circuit breaker · parallel agency queries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28600" y="2926080"/>
            <a:ext cx="2834640" cy="1920240"/>
          </a:xfrm>
          <a:prstGeom prst="rect">
            <a:avLst/>
          </a:prstGeom>
          <a:solidFill>
            <a:srgbClr val="2D3B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228600" y="2926080"/>
            <a:ext cx="2834640" cy="7315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20040" y="303580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59E0B"/>
                </a:solidFill>
                <a:latin typeface="Consolas"/>
              </a:rPr>
              <a:t>Phase 4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148840" y="3017520"/>
            <a:ext cx="822960" cy="27432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2103120" y="30358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22C55E"/>
                </a:solidFill>
                <a:latin typeface="Calibri"/>
              </a:rPr>
              <a:t>✓ Complete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3364992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LangGraph Controller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20040" y="3749040"/>
            <a:ext cx="26517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EEAD4"/>
                </a:solidFill>
                <a:latin typeface="Calibri"/>
              </a:rPr>
              <a:t>Intent → Planner → Router → IDHW → extract_ids → [IDJC|IDOC] → Reasoning → Answer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200400" y="2926080"/>
            <a:ext cx="2834640" cy="1920240"/>
          </a:xfrm>
          <a:prstGeom prst="rect">
            <a:avLst/>
          </a:prstGeom>
          <a:solidFill>
            <a:srgbClr val="2D3B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3200400" y="2926080"/>
            <a:ext cx="2834640" cy="7315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3291840" y="303580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59E0B"/>
                </a:solidFill>
                <a:latin typeface="Consolas"/>
              </a:rPr>
              <a:t>Phase 5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120640" y="3017520"/>
            <a:ext cx="822960" cy="27432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5074920" y="30358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59E0B"/>
                </a:solidFill>
                <a:latin typeface="Calibri"/>
              </a:rPr>
              <a:t>⚡ Active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291840" y="3364992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Cross-Agency Reasoning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291840" y="3749040"/>
            <a:ext cx="26517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EEAD4"/>
                </a:solidFill>
                <a:latin typeface="Calibri"/>
              </a:rPr>
              <a:t>Ephemeral graph · parent ID extraction · PARENT_OF edges · reasoning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172200" y="2926080"/>
            <a:ext cx="2834640" cy="1920240"/>
          </a:xfrm>
          <a:prstGeom prst="rect">
            <a:avLst/>
          </a:prstGeom>
          <a:solidFill>
            <a:srgbClr val="1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6172200" y="2926080"/>
            <a:ext cx="2834640" cy="73152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263640" y="303580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onsolas"/>
              </a:rPr>
              <a:t>Phase 6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092440" y="3017520"/>
            <a:ext cx="822960" cy="27432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8046720" y="30358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59E0B"/>
                </a:solidFill>
                <a:latin typeface="Calibri"/>
              </a:rPr>
              <a:t>⚡ Active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63640" y="3364992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Cognitive Swarm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263640" y="3749040"/>
            <a:ext cx="26517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EEAD4"/>
                </a:solidFill>
                <a:latin typeface="Calibri"/>
              </a:rPr>
              <a:t>MemorySaver · Flask Web UI · Qdrant vectors · multi-turn conversation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2D3B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74320" y="109728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Controller API Contract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868680"/>
            <a:ext cx="4846320" cy="416052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274320" y="868680"/>
            <a:ext cx="4846320" cy="457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65760" y="960120"/>
            <a:ext cx="4663440" cy="397763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5EEAD4"/>
                </a:solidFill>
                <a:latin typeface="Consolas"/>
              </a:rPr>
              <a:t># POST /query</a:t>
            </a:r>
          </a:p>
          <a:p>
            <a:r>
              <a:rPr sz="850">
                <a:solidFill>
                  <a:srgbClr val="5EEAD4"/>
                </a:solidFill>
                <a:latin typeface="Consolas"/>
              </a:rPr>
              <a:t>Request:</a:t>
            </a:r>
          </a:p>
          <a:p>
            <a:r>
              <a:rPr sz="850">
                <a:solidFill>
                  <a:srgbClr val="5EEAD4"/>
                </a:solidFill>
                <a:latin typeface="Consolas"/>
              </a:rPr>
              <a:t>{</a:t>
            </a:r>
          </a:p>
          <a:p>
            <a:r>
              <a:rPr sz="850">
                <a:solidFill>
                  <a:srgbClr val="5EEAD4"/>
                </a:solidFill>
                <a:latin typeface="Consolas"/>
              </a:rPr>
              <a:t xml:space="preserve">  "question": "How many foster children have incarcerated parents?",</a:t>
            </a:r>
          </a:p>
          <a:p>
            <a:r>
              <a:rPr sz="850">
                <a:solidFill>
                  <a:srgbClr val="5EEAD4"/>
                </a:solidFill>
                <a:latin typeface="Consolas"/>
              </a:rPr>
              <a:t xml:space="preserve">  "thread_id": "session-abc-123"</a:t>
            </a:r>
          </a:p>
          <a:p>
            <a:r>
              <a:rPr sz="850">
                <a:solidFill>
                  <a:srgbClr val="5EEAD4"/>
                </a:solidFill>
                <a:latin typeface="Consolas"/>
              </a:rPr>
              <a:t>}</a:t>
            </a:r>
          </a:p>
          <a:p>
            <a:endParaRPr sz="850">
              <a:solidFill>
                <a:srgbClr val="5EEAD4"/>
              </a:solidFill>
              <a:latin typeface="Consolas"/>
            </a:endParaRPr>
          </a:p>
          <a:p>
            <a:r>
              <a:rPr sz="850">
                <a:solidFill>
                  <a:srgbClr val="5EEAD4"/>
                </a:solidFill>
                <a:latin typeface="Consolas"/>
              </a:rPr>
              <a:t>Response:</a:t>
            </a:r>
          </a:p>
          <a:p>
            <a:r>
              <a:rPr sz="850">
                <a:solidFill>
                  <a:srgbClr val="5EEAD4"/>
                </a:solidFill>
                <a:latin typeface="Consolas"/>
              </a:rPr>
              <a:t>{</a:t>
            </a:r>
          </a:p>
          <a:p>
            <a:r>
              <a:rPr sz="850">
                <a:solidFill>
                  <a:srgbClr val="5EEAD4"/>
                </a:solidFill>
                <a:latin typeface="Consolas"/>
              </a:rPr>
              <a:t xml:space="preserve">  "answer":    "Based on cross-agency analysis, 47 children...",</a:t>
            </a:r>
          </a:p>
          <a:p>
            <a:r>
              <a:rPr sz="850">
                <a:solidFill>
                  <a:srgbClr val="5EEAD4"/>
                </a:solidFill>
                <a:latin typeface="Consolas"/>
              </a:rPr>
              <a:t xml:space="preserve">  "confidence": 0.91,</a:t>
            </a:r>
          </a:p>
          <a:p>
            <a:r>
              <a:rPr sz="850">
                <a:solidFill>
                  <a:srgbClr val="5EEAD4"/>
                </a:solidFill>
                <a:latin typeface="Consolas"/>
              </a:rPr>
              <a:t xml:space="preserve">  "sources":   ["idhw", "idoc"],</a:t>
            </a:r>
          </a:p>
          <a:p>
            <a:r>
              <a:rPr sz="850">
                <a:solidFill>
                  <a:srgbClr val="5EEAD4"/>
                </a:solidFill>
                <a:latin typeface="Consolas"/>
              </a:rPr>
              <a:t xml:space="preserve">  "intent":    "cross_agency_count",</a:t>
            </a:r>
          </a:p>
          <a:p>
            <a:r>
              <a:rPr sz="850">
                <a:solidFill>
                  <a:srgbClr val="5EEAD4"/>
                </a:solidFill>
                <a:latin typeface="Consolas"/>
              </a:rPr>
              <a:t xml:space="preserve">  "errors":    [],</a:t>
            </a:r>
          </a:p>
          <a:p>
            <a:r>
              <a:rPr sz="850">
                <a:solidFill>
                  <a:srgbClr val="5EEAD4"/>
                </a:solidFill>
                <a:latin typeface="Consolas"/>
              </a:rPr>
              <a:t xml:space="preserve">  "execution_trace": [</a:t>
            </a:r>
          </a:p>
          <a:p>
            <a:r>
              <a:rPr sz="850">
                <a:solidFill>
                  <a:srgbClr val="5EEAD4"/>
                </a:solidFill>
                <a:latin typeface="Consolas"/>
              </a:rPr>
              <a:t xml:space="preserve">    "Starting query execution",</a:t>
            </a:r>
          </a:p>
          <a:p>
            <a:r>
              <a:rPr sz="850">
                <a:solidFill>
                  <a:srgbClr val="5EEAD4"/>
                </a:solidFill>
                <a:latin typeface="Consolas"/>
              </a:rPr>
              <a:t xml:space="preserve">    "Routing to agencies: [idhw, idoc]",</a:t>
            </a:r>
          </a:p>
          <a:p>
            <a:r>
              <a:rPr sz="850">
                <a:solidFill>
                  <a:srgbClr val="5EEAD4"/>
                </a:solidFill>
                <a:latin typeface="Consolas"/>
              </a:rPr>
              <a:t xml:space="preserve">    "IDHW family relationships: 312 found",</a:t>
            </a:r>
          </a:p>
          <a:p>
            <a:r>
              <a:rPr sz="850">
                <a:solidFill>
                  <a:srgbClr val="5EEAD4"/>
                </a:solidFill>
                <a:latin typeface="Consolas"/>
              </a:rPr>
              <a:t xml:space="preserve">    "Extracted 156 parent IDs from family data",</a:t>
            </a:r>
          </a:p>
          <a:p>
            <a:r>
              <a:rPr sz="850">
                <a:solidFill>
                  <a:srgbClr val="5EEAD4"/>
                </a:solidFill>
                <a:latin typeface="Consolas"/>
              </a:rPr>
              <a:t xml:space="preserve">    "IDOC: 47 parents have incarceration records"</a:t>
            </a:r>
          </a:p>
          <a:p>
            <a:r>
              <a:rPr sz="850">
                <a:solidFill>
                  <a:srgbClr val="5EEAD4"/>
                </a:solidFill>
                <a:latin typeface="Consolas"/>
              </a:rPr>
              <a:t xml:space="preserve">  ]</a:t>
            </a:r>
          </a:p>
          <a:p>
            <a:r>
              <a:rPr sz="850">
                <a:solidFill>
                  <a:srgbClr val="5EEAD4"/>
                </a:solidFill>
                <a:latin typeface="Consolas"/>
              </a:rPr>
              <a:t>}</a:t>
            </a:r>
          </a:p>
        </p:txBody>
      </p:sp>
      <p:sp>
        <p:nvSpPr>
          <p:cNvPr id="7" name="Rectangle 6"/>
          <p:cNvSpPr/>
          <p:nvPr/>
        </p:nvSpPr>
        <p:spPr>
          <a:xfrm>
            <a:off x="5303520" y="868680"/>
            <a:ext cx="3566160" cy="1097280"/>
          </a:xfrm>
          <a:prstGeom prst="rect">
            <a:avLst/>
          </a:prstGeom>
          <a:solidFill>
            <a:srgbClr val="2D3B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303520" y="868680"/>
            <a:ext cx="73152" cy="109728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440680" y="914400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9488"/>
                </a:solidFill>
                <a:latin typeface="Calibri"/>
              </a:rPr>
              <a:t>thread_id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40680" y="118872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Enables multi-turn conversation via LangGraph MemorySaver. Pass same thread_id across requests for conversation context.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0" y="2103120"/>
            <a:ext cx="3566160" cy="1097280"/>
          </a:xfrm>
          <a:prstGeom prst="rect">
            <a:avLst/>
          </a:prstGeom>
          <a:solidFill>
            <a:srgbClr val="2D3B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303520" y="2103120"/>
            <a:ext cx="73152" cy="10972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440680" y="2148840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9E0B"/>
                </a:solidFill>
                <a:latin typeface="Calibri"/>
              </a:rPr>
              <a:t>execution_trace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40680" y="242316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Full audit log of every step. Stored in audit_log Redis stream. Compliant with Idaho data governance requirements.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03520" y="3337560"/>
            <a:ext cx="3566160" cy="914400"/>
          </a:xfrm>
          <a:prstGeom prst="rect">
            <a:avLst/>
          </a:prstGeom>
          <a:solidFill>
            <a:srgbClr val="2D3B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5303520" y="3337560"/>
            <a:ext cx="73152" cy="914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440680" y="3383280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0B981"/>
                </a:solidFill>
                <a:latin typeface="Calibri"/>
              </a:rPr>
              <a:t>confidence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80" y="3657600"/>
            <a:ext cx="3383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Weighted score based on data completeness and identity match confidence. 0.9+ = high confidence, &lt; 0.7 = review recommended.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303520" y="4343400"/>
            <a:ext cx="3566160" cy="548640"/>
          </a:xfrm>
          <a:prstGeom prst="rect">
            <a:avLst/>
          </a:prstGeom>
          <a:solidFill>
            <a:srgbClr val="2D3B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5303520" y="4343400"/>
            <a:ext cx="73152" cy="5486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440680" y="4416552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GET /audit/recent  —  returns last 100 queries with metadata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1659</Words>
  <Application>Microsoft Macintosh PowerPoint</Application>
  <PresentationFormat>On-screen Show (16:9)</PresentationFormat>
  <Paragraphs>293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Matthew Mowery</cp:lastModifiedBy>
  <cp:revision>3</cp:revision>
  <dcterms:created xsi:type="dcterms:W3CDTF">2013-01-27T09:14:16Z</dcterms:created>
  <dcterms:modified xsi:type="dcterms:W3CDTF">2026-04-08T20:57:35Z</dcterms:modified>
  <cp:category/>
</cp:coreProperties>
</file>